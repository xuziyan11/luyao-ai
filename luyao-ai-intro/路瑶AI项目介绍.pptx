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9" Type="http://schemas.openxmlformats.org/officeDocument/2006/relationships/viewProps" Target="viewProps.xml" /><Relationship Id="rId11" Type="http://schemas.openxmlformats.org/officeDocument/2006/relationships/slide" Target="slides/slide11.xml" /><Relationship Id="rId18" Type="http://schemas.openxmlformats.org/officeDocument/2006/relationships/tableStyles" Target="tableStyles.xml" /><Relationship Id="rId1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7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3" Type="http://schemas.openxmlformats.org/officeDocument/2006/relationships/image" Target="media/image10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4" Type="http://schemas.openxmlformats.org/officeDocument/2006/relationships/image" Target="media/image1.svg" /><Relationship Id="rId3" Type="http://schemas.openxmlformats.org/officeDocument/2006/relationships/image" Target="media/image19.svg" /><Relationship Id="rId2" Type="http://schemas.openxmlformats.org/officeDocument/2006/relationships/image" Target="media/image14.svg" /><Relationship Id="rId1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4" Type="http://schemas.openxmlformats.org/officeDocument/2006/relationships/image" Target="media/image4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5" Type="http://schemas.openxmlformats.org/officeDocument/2006/relationships/image" Target="media/image9.svg" /><Relationship Id="rId3" Type="http://schemas.openxmlformats.org/officeDocument/2006/relationships/image" Target="media/image7.svg" /><Relationship Id="rId4" Type="http://schemas.openxmlformats.org/officeDocument/2006/relationships/image" Target="media/image8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svg" /><Relationship Id="rId1" Type="http://schemas.openxmlformats.org/officeDocument/2006/relationships/image" Target="media/image5.svg" /></Relationships>
</file>

<file path=ppt/slides/_rels/slide12.xml.rels><?xml version="1.0" encoding="UTF-8" standalone="yes"?><Relationships xmlns="http://schemas.openxmlformats.org/package/2006/relationships"><Relationship Id="rId4" Type="http://schemas.openxmlformats.org/officeDocument/2006/relationships/image" Target="media/image13.svg" /><Relationship Id="rId3" Type="http://schemas.openxmlformats.org/officeDocument/2006/relationships/image" Target="media/image12.svg" /><Relationship Id="rId1" Type="http://schemas.openxmlformats.org/officeDocument/2006/relationships/image" Target="media/image10.svg" /><Relationship Id="rId2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5" Type="http://schemas.openxmlformats.org/officeDocument/2006/relationships/image" Target="media/image17.svg" /><Relationship Id="rId2" Type="http://schemas.openxmlformats.org/officeDocument/2006/relationships/image" Target="media/image14.svg" /><Relationship Id="rId1" Type="http://schemas.openxmlformats.org/officeDocument/2006/relationships/image" Target="media/image11.svg" /><Relationship Id="rId4" Type="http://schemas.openxmlformats.org/officeDocument/2006/relationships/image" Target="media/image16.svg" /><Relationship Id="rId3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'1280px', height:'720px', background:'#0B0D12', position:'relative', fontFamily:&quot;'PingFang SC','Inter',sans-serif&quot;, overflow:'hidden' }}&gt;&#10;  &lt;Box style={{ position:'absolute', top:-140, right:-110, width:540, height:540, borderRadius:270, background:'linear-gradient(135deg,#FF6F5E 0%,#FFAE6B 100%)', opacity:0.18 }} /&gt;&#10;  &lt;Box style={{ position:'absolute', bottom:-170, left:-90, width:480, height:480, borderRadius:240, background:'linear-gradient(135deg,#FFAE6B 0%,#FF6F5E 100%)', opacity:0.10 }} /&gt;&#10;  &lt;Box style={{ position:'relative', zIndex:2, height:'100%', padding:'0 96px', justifyContent:'center' }}&gt;&#10;    &lt;Text style={{ fontSize:22, color:'rgba(237,239,245,0.6)', letterSpacing:6 }}&gt;AI COMPANION&lt;/Text&gt;&#10;    &lt;Text style={{ fontSize:84, fontWeight:'bold', color:'#EDEFF5', marginTop:14 }}&gt;路瑶 AI&lt;/Text&gt;&#10;    &lt;Text style={{ fontSize:36, fontWeight:'bold', marginTop:12 }}&gt;&#10;      &lt;span style={{ backgroundImage:'linear-gradient(135deg,#FF6F5E 0%,#FFAE6B 100%)', backgroundClip:'text', color:'transparent' }}&gt;你的 AI 情感伴侣&lt;/span&gt;&#10;    &lt;/Text&gt;&#10;    &lt;Text style={{ fontSize:20, color:'rgba(237,239,245,0.72)', marginTop:26, lineHeight:1.7 }}&gt;有记忆 · 有温度 · 多端互通的智能陪聊应用&lt;br /&gt;项目功能与亮点 · 整体介绍&lt;/Text&gt;&#10;  &lt;/Box&gt;&#10;  &lt;Box style={{ position:'absolute', bottom:38, left:96, zIndex:2 }}&gt;&#10;    &lt;Text style={{ fontSize:14, color:'rgba(237,239,245,0.5)' }}&gt;路瑶AI · 项目介绍　|　202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096250" y="-1333500"/>
            <a:ext cx="5143500" cy="5143500"/>
          </a:xfrm>
          <a:custGeom>
            <a:pathLst>
              <a:path w="540" h="540">
                <a:moveTo>
                  <a:pt x="430" y="487"/>
                </a:moveTo>
                <a:lnTo>
                  <a:pt x="426" y="490"/>
                </a:lnTo>
                <a:lnTo>
                  <a:pt x="421" y="494"/>
                </a:lnTo>
                <a:lnTo>
                  <a:pt x="415" y="497"/>
                </a:lnTo>
                <a:lnTo>
                  <a:pt x="410" y="501"/>
                </a:lnTo>
                <a:lnTo>
                  <a:pt x="404" y="504"/>
                </a:lnTo>
                <a:lnTo>
                  <a:pt x="399" y="507"/>
                </a:lnTo>
                <a:lnTo>
                  <a:pt x="393" y="510"/>
                </a:lnTo>
                <a:lnTo>
                  <a:pt x="387" y="513"/>
                </a:lnTo>
                <a:lnTo>
                  <a:pt x="381" y="516"/>
                </a:lnTo>
                <a:lnTo>
                  <a:pt x="375" y="519"/>
                </a:lnTo>
                <a:lnTo>
                  <a:pt x="369" y="521"/>
                </a:lnTo>
                <a:lnTo>
                  <a:pt x="363" y="524"/>
                </a:lnTo>
                <a:lnTo>
                  <a:pt x="357" y="526"/>
                </a:lnTo>
                <a:lnTo>
                  <a:pt x="350" y="528"/>
                </a:lnTo>
                <a:lnTo>
                  <a:pt x="344" y="530"/>
                </a:lnTo>
                <a:lnTo>
                  <a:pt x="337" y="531"/>
                </a:lnTo>
                <a:lnTo>
                  <a:pt x="331" y="533"/>
                </a:lnTo>
                <a:lnTo>
                  <a:pt x="324" y="535"/>
                </a:lnTo>
                <a:lnTo>
                  <a:pt x="318" y="536"/>
                </a:lnTo>
                <a:lnTo>
                  <a:pt x="311" y="537"/>
                </a:lnTo>
                <a:lnTo>
                  <a:pt x="304" y="538"/>
                </a:lnTo>
                <a:lnTo>
                  <a:pt x="298" y="539"/>
                </a:lnTo>
                <a:lnTo>
                  <a:pt x="291" y="539"/>
                </a:lnTo>
                <a:lnTo>
                  <a:pt x="284" y="540"/>
                </a:lnTo>
                <a:lnTo>
                  <a:pt x="277" y="540"/>
                </a:lnTo>
                <a:lnTo>
                  <a:pt x="270" y="540"/>
                </a:lnTo>
                <a:lnTo>
                  <a:pt x="263" y="540"/>
                </a:lnTo>
                <a:lnTo>
                  <a:pt x="256" y="540"/>
                </a:lnTo>
                <a:lnTo>
                  <a:pt x="249" y="539"/>
                </a:lnTo>
                <a:lnTo>
                  <a:pt x="242" y="539"/>
                </a:lnTo>
                <a:lnTo>
                  <a:pt x="236" y="538"/>
                </a:lnTo>
                <a:lnTo>
                  <a:pt x="229" y="537"/>
                </a:lnTo>
                <a:lnTo>
                  <a:pt x="222" y="536"/>
                </a:lnTo>
                <a:lnTo>
                  <a:pt x="216" y="535"/>
                </a:lnTo>
                <a:lnTo>
                  <a:pt x="209" y="533"/>
                </a:lnTo>
                <a:lnTo>
                  <a:pt x="203" y="531"/>
                </a:lnTo>
                <a:lnTo>
                  <a:pt x="196" y="530"/>
                </a:lnTo>
                <a:lnTo>
                  <a:pt x="190" y="528"/>
                </a:lnTo>
                <a:lnTo>
                  <a:pt x="183" y="526"/>
                </a:lnTo>
                <a:lnTo>
                  <a:pt x="177" y="524"/>
                </a:lnTo>
                <a:lnTo>
                  <a:pt x="171" y="521"/>
                </a:lnTo>
                <a:lnTo>
                  <a:pt x="165" y="519"/>
                </a:lnTo>
                <a:lnTo>
                  <a:pt x="159" y="516"/>
                </a:lnTo>
                <a:lnTo>
                  <a:pt x="153" y="513"/>
                </a:lnTo>
                <a:lnTo>
                  <a:pt x="147" y="510"/>
                </a:lnTo>
                <a:lnTo>
                  <a:pt x="141" y="507"/>
                </a:lnTo>
                <a:lnTo>
                  <a:pt x="136" y="504"/>
                </a:lnTo>
                <a:lnTo>
                  <a:pt x="130" y="501"/>
                </a:lnTo>
                <a:lnTo>
                  <a:pt x="125" y="497"/>
                </a:lnTo>
                <a:lnTo>
                  <a:pt x="119" y="494"/>
                </a:lnTo>
                <a:lnTo>
                  <a:pt x="114" y="490"/>
                </a:lnTo>
                <a:lnTo>
                  <a:pt x="108" y="486"/>
                </a:lnTo>
                <a:lnTo>
                  <a:pt x="103" y="482"/>
                </a:lnTo>
                <a:lnTo>
                  <a:pt x="98" y="478"/>
                </a:lnTo>
                <a:lnTo>
                  <a:pt x="93" y="474"/>
                </a:lnTo>
                <a:lnTo>
                  <a:pt x="88" y="470"/>
                </a:lnTo>
                <a:lnTo>
                  <a:pt x="84" y="465"/>
                </a:lnTo>
                <a:lnTo>
                  <a:pt x="79" y="461"/>
                </a:lnTo>
                <a:lnTo>
                  <a:pt x="75" y="456"/>
                </a:lnTo>
                <a:lnTo>
                  <a:pt x="70" y="452"/>
                </a:lnTo>
                <a:lnTo>
                  <a:pt x="66" y="447"/>
                </a:lnTo>
                <a:lnTo>
                  <a:pt x="62" y="442"/>
                </a:lnTo>
                <a:lnTo>
                  <a:pt x="58" y="437"/>
                </a:lnTo>
                <a:lnTo>
                  <a:pt x="54" y="432"/>
                </a:lnTo>
                <a:lnTo>
                  <a:pt x="50" y="426"/>
                </a:lnTo>
                <a:lnTo>
                  <a:pt x="46" y="421"/>
                </a:lnTo>
                <a:lnTo>
                  <a:pt x="43" y="415"/>
                </a:lnTo>
                <a:lnTo>
                  <a:pt x="39" y="410"/>
                </a:lnTo>
                <a:lnTo>
                  <a:pt x="36" y="404"/>
                </a:lnTo>
                <a:lnTo>
                  <a:pt x="33" y="399"/>
                </a:lnTo>
                <a:lnTo>
                  <a:pt x="30" y="393"/>
                </a:lnTo>
                <a:lnTo>
                  <a:pt x="27" y="387"/>
                </a:lnTo>
                <a:lnTo>
                  <a:pt x="24" y="381"/>
                </a:lnTo>
                <a:lnTo>
                  <a:pt x="21" y="375"/>
                </a:lnTo>
                <a:lnTo>
                  <a:pt x="19" y="369"/>
                </a:lnTo>
                <a:lnTo>
                  <a:pt x="16" y="363"/>
                </a:lnTo>
                <a:lnTo>
                  <a:pt x="14" y="357"/>
                </a:lnTo>
                <a:lnTo>
                  <a:pt x="12" y="350"/>
                </a:lnTo>
                <a:lnTo>
                  <a:pt x="10" y="344"/>
                </a:lnTo>
                <a:lnTo>
                  <a:pt x="9" y="337"/>
                </a:lnTo>
                <a:lnTo>
                  <a:pt x="7" y="331"/>
                </a:lnTo>
                <a:lnTo>
                  <a:pt x="5" y="324"/>
                </a:lnTo>
                <a:lnTo>
                  <a:pt x="4" y="318"/>
                </a:lnTo>
                <a:lnTo>
                  <a:pt x="3" y="311"/>
                </a:lnTo>
                <a:lnTo>
                  <a:pt x="2" y="304"/>
                </a:lnTo>
                <a:lnTo>
                  <a:pt x="1" y="298"/>
                </a:lnTo>
                <a:lnTo>
                  <a:pt x="1" y="291"/>
                </a:lnTo>
                <a:lnTo>
                  <a:pt x="0" y="284"/>
                </a:lnTo>
                <a:lnTo>
                  <a:pt x="0" y="277"/>
                </a:lnTo>
                <a:lnTo>
                  <a:pt x="0" y="270"/>
                </a:lnTo>
                <a:lnTo>
                  <a:pt x="0" y="263"/>
                </a:lnTo>
                <a:lnTo>
                  <a:pt x="0" y="256"/>
                </a:lnTo>
                <a:lnTo>
                  <a:pt x="1" y="249"/>
                </a:lnTo>
                <a:lnTo>
                  <a:pt x="1" y="242"/>
                </a:lnTo>
                <a:lnTo>
                  <a:pt x="2" y="236"/>
                </a:lnTo>
                <a:lnTo>
                  <a:pt x="3" y="229"/>
                </a:lnTo>
                <a:lnTo>
                  <a:pt x="4" y="222"/>
                </a:lnTo>
                <a:lnTo>
                  <a:pt x="5" y="216"/>
                </a:lnTo>
                <a:lnTo>
                  <a:pt x="7" y="209"/>
                </a:lnTo>
                <a:lnTo>
                  <a:pt x="9" y="203"/>
                </a:lnTo>
                <a:lnTo>
                  <a:pt x="10" y="196"/>
                </a:lnTo>
                <a:lnTo>
                  <a:pt x="12" y="190"/>
                </a:lnTo>
                <a:lnTo>
                  <a:pt x="14" y="183"/>
                </a:lnTo>
                <a:lnTo>
                  <a:pt x="16" y="177"/>
                </a:lnTo>
                <a:lnTo>
                  <a:pt x="19" y="171"/>
                </a:lnTo>
                <a:lnTo>
                  <a:pt x="21" y="165"/>
                </a:lnTo>
                <a:lnTo>
                  <a:pt x="24" y="159"/>
                </a:lnTo>
                <a:lnTo>
                  <a:pt x="27" y="153"/>
                </a:lnTo>
                <a:lnTo>
                  <a:pt x="30" y="147"/>
                </a:lnTo>
                <a:lnTo>
                  <a:pt x="33" y="141"/>
                </a:lnTo>
                <a:lnTo>
                  <a:pt x="33" y="140"/>
                </a:lnTo>
                <a:lnTo>
                  <a:pt x="430" y="140"/>
                </a:lnTo>
                <a:close/>
              </a:path>
            </a:pathLst>
          </a:custGeom>
          <a:gradFill>
            <a:gsLst>
              <a:gs pos="0">
                <a:srgbClr val="FF6F5E">
                  <a:alpha val="18000"/>
                </a:srgbClr>
              </a:gs>
              <a:gs pos="100000">
                <a:srgbClr val="FFAE6B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857250" y="390525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1" y="306"/>
                </a:lnTo>
                <a:lnTo>
                  <a:pt x="470" y="310"/>
                </a:lnTo>
                <a:lnTo>
                  <a:pt x="90" y="310"/>
                </a:lnTo>
                <a:lnTo>
                  <a:pt x="90" y="53"/>
                </a:lnTo>
                <a:lnTo>
                  <a:pt x="92" y="51"/>
                </a:lnTo>
                <a:lnTo>
                  <a:pt x="96" y="48"/>
                </a:lnTo>
                <a:lnTo>
                  <a:pt x="101" y="44"/>
                </a:lnTo>
                <a:lnTo>
                  <a:pt x="106" y="41"/>
                </a:lnTo>
                <a:lnTo>
                  <a:pt x="111" y="38"/>
                </a:lnTo>
                <a:lnTo>
                  <a:pt x="116" y="35"/>
                </a:lnTo>
                <a:lnTo>
                  <a:pt x="121" y="32"/>
                </a:lnTo>
                <a:lnTo>
                  <a:pt x="126" y="29"/>
                </a:lnTo>
                <a:lnTo>
                  <a:pt x="131" y="26"/>
                </a:lnTo>
                <a:lnTo>
                  <a:pt x="136" y="24"/>
                </a:lnTo>
                <a:lnTo>
                  <a:pt x="141" y="21"/>
                </a:lnTo>
                <a:lnTo>
                  <a:pt x="147" y="19"/>
                </a:lnTo>
                <a:lnTo>
                  <a:pt x="152" y="17"/>
                </a:lnTo>
                <a:lnTo>
                  <a:pt x="158" y="15"/>
                </a:lnTo>
                <a:lnTo>
                  <a:pt x="163" y="13"/>
                </a:lnTo>
                <a:lnTo>
                  <a:pt x="169" y="11"/>
                </a:lnTo>
                <a:lnTo>
                  <a:pt x="174" y="9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gradFill>
            <a:gsLst>
              <a:gs pos="0">
                <a:srgbClr val="FFAE6B">
                  <a:alpha val="10000"/>
                </a:srgbClr>
              </a:gs>
              <a:gs pos="100000">
                <a:srgbClr val="FF6F5E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97167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450">
                <a:solidFill>
                  <a:srgbClr val="EDEFF5">
                    <a:alpha val="60000"/>
                  </a:srgbClr>
                </a:solidFill>
                <a:latin typeface="PingFang SC"/>
                <a:ea typeface="PingFang SC"/>
              </a:rPr>
              <a:t>AI COMPANION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2362200"/>
            <a:ext cx="103632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300" b="1">
                <a:solidFill>
                  <a:srgbClr val="EDEFF5"/>
                </a:solidFill>
                <a:latin typeface="PingFang SC"/>
                <a:ea typeface="PingFang SC"/>
              </a:rPr>
              <a:t>路瑶</a:t>
            </a:r>
            <a:r>
              <a:rPr lang="en-US" sz="6300" b="1">
                <a:solidFill>
                  <a:srgbClr val="EDEFF5"/>
                </a:solidFill>
                <a:latin typeface="PingFang SC"/>
                <a:ea typeface="PingFang SC"/>
              </a:rPr>
              <a:t> AI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14400" y="3438525"/>
            <a:ext cx="1036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gradFill>
                  <a:gsLst>
                    <a:gs pos="0">
                      <a:srgbClr val="FF6F5E"/>
                    </a:gs>
                    <a:gs pos="100000">
                      <a:srgbClr val="FFAE6B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你的</a:t>
            </a:r>
            <a:r>
              <a:rPr lang="en-US" sz="2700" b="1">
                <a:gradFill>
                  <a:gsLst>
                    <a:gs pos="0">
                      <a:srgbClr val="FF6F5E"/>
                    </a:gs>
                    <a:gs pos="100000">
                      <a:srgbClr val="FFAE6B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 AI </a:t>
            </a:r>
            <a:r>
              <a:rPr lang="zh-CN" sz="2700" b="1">
                <a:gradFill>
                  <a:gsLst>
                    <a:gs pos="0">
                      <a:srgbClr val="FF6F5E"/>
                    </a:gs>
                    <a:gs pos="100000">
                      <a:srgbClr val="FFAE6B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情感伴侣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4105275"/>
            <a:ext cx="10363200" cy="7810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有记忆</a:t>
            </a:r>
            <a:r>
              <a:rPr lang="en-US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有温度</a:t>
            </a:r>
            <a:r>
              <a:rPr lang="en-US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多端互通的智能陪聊应用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项目功能与亮点</a:t>
            </a:r>
            <a:r>
              <a:rPr lang="en-US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整体介绍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633412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　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|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　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0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目录&lt;/Text&gt;&#10;  &lt;/Box&gt;&#10;  &lt;Box style={{ height:500, flexDirection:'row', gap:40 }}&gt;&#10;    &lt;Box style={{ width:300, justifyContent:'center' }}&gt;&#10;      &lt;Text style={{ fontSize:18, color:'rgba(237,239,245,0.55)', letterSpacing:4 }}&gt;CONTENTS&lt;/Text&gt;&#10;      &lt;Box style={{ width:64, height:4, borderRadius:2, background:'linear-gradient(135deg,#FF6F5E 0%,#FFAE6B 100%)', marginTop:16 }} /&gt;&#10;      &lt;Text style={{ fontSize:16, color:'rgba(237,239,245,0.5)', marginTop:20, lineHeight:1.7 }}&gt;从产品定位到工程亮点，四章讲清路瑶AI。&lt;/Text&gt;&#10;    &lt;/Box&gt;&#10;    &lt;Box style={{ flex:1, flexDirection:'column', justifyContent:'space-between' }}&gt;&#10;      &lt;Box style={{ flexDirection:'row', alignItems:'center', gap:24, paddingBottom:18, borderBottom:'1px solid rgba(255,255,255,0.10)' }}&gt;&#10;        &lt;Text style={{ fontSize:40, fontWeight:'bold', color:'#FF6F5E', width:70 }}&gt;01&lt;/Text&gt;&#10;        &lt;Box&gt;&lt;Text style={{ fontSize:24, fontWeight:'bold', color:'#EDEFF5' }}&gt;产品定位&lt;/Text&gt;&lt;Text style={{ fontSize:15, color:'rgba(237,239,245,0.55)' }}&gt;它是什么，解决什么问题&lt;/Text&gt;&lt;/Box&gt;&#10;      &lt;/Box&gt;&#10;      &lt;Box style={{ flexDirection:'row', alignItems:'center', gap:24, paddingBottom:18, borderBottom:'1px solid rgba(255,255,255,0.10)' }}&gt;&#10;        &lt;Text style={{ fontSize:40, fontWeight:'bold', color:'#FF6F5E', width:70 }}&gt;02&lt;/Text&gt;&#10;        &lt;Box&gt;&lt;Text style={{ fontSize:24, fontWeight:'bold', color:'#EDEFF5' }}&gt;技术架构&lt;/Text&gt;&lt;Text style={{ fontSize:15, color:'rgba(237,239,245,0.55)' }}&gt;技术栈与系统架构图&lt;/Text&gt;&lt;/Box&gt;&#10;      &lt;/Box&gt;&#10;      &lt;Box style={{ flexDirection:'row', alignItems:'center', gap:24, paddingBottom:18, borderBottom:'1px solid rgba(255,255,255,0.10)' }}&gt;&#10;        &lt;Text style={{ fontSize:40, fontWeight:'bold', color:'#FF6F5E', width:70 }}&gt;03&lt;/Text&gt;&#10;        &lt;Box&gt;&lt;Text style={{ fontSize:24, fontWeight:'bold', color:'#EDEFF5' }}&gt;功能矩阵&lt;/Text&gt;&lt;Text style={{ fontSize:15, color:'rgba(237,239,245,0.55)' }}&gt;对话·语音·记忆·好感度·日记&lt;/Text&gt;&lt;/Box&gt;&#10;      &lt;/Box&gt;&#10;      &lt;Box style={{ flexDirection:'row', alignItems:'center', gap:24, paddingBottom:18, borderBottom:'1px solid rgba(255,255,255,0.10)' }}&gt;&#10;        &lt;Text style={{ fontSize:40, fontWeight:'bold', color:'#FF6F5E', width:70 }}&gt;04&lt;/Text&gt;&#10;        &lt;Box&gt;&lt;Text style={{ fontSize:24, fontWeight:'bold', color:'#EDEFF5' }}&gt;工程亮点&lt;/Text&gt;&lt;Text style={{ fontSize:15, color:'rgba(237,239,245,0.55)' }}&gt;隔离·安全·管理后台&lt;/Text&gt;&lt;/Box&gt;&#10;      &lt;/Box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目录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71500" y="29146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32766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3505200"/>
            <a:ext cx="2857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从产品定位到工程亮点，四章讲清路瑶</a:t>
            </a:r>
            <a:r>
              <a:rPr lang="en-US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</a:t>
            </a:r>
            <a:r>
              <a:rPr lang="zh-CN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3810000" y="1143000"/>
            <a:ext cx="7810500" cy="647700"/>
          </a:xfrm>
          <a:custGeom>
            <a:pathLst>
              <a:path w="820" h="68">
                <a:moveTo>
                  <a:pt x="0" y="67"/>
                </a:moveTo>
                <a:lnTo>
                  <a:pt x="820" y="67"/>
                </a:lnTo>
                <a:lnTo>
                  <a:pt x="820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810000" y="11430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6F5E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705350" y="1152525"/>
            <a:ext cx="1571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DEFF5"/>
                </a:solidFill>
                <a:latin typeface="PingFang SC"/>
                <a:ea typeface="PingFang SC"/>
              </a:rPr>
              <a:t>产品定位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705350" y="14287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它是什么，解决什么问题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3810000" y="2514600"/>
            <a:ext cx="7810500" cy="647700"/>
          </a:xfrm>
          <a:custGeom>
            <a:pathLst>
              <a:path w="820" h="68">
                <a:moveTo>
                  <a:pt x="0" y="67"/>
                </a:moveTo>
                <a:lnTo>
                  <a:pt x="820" y="67"/>
                </a:lnTo>
                <a:lnTo>
                  <a:pt x="820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0" y="2514600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6F5E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705350" y="2524125"/>
            <a:ext cx="1285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DEFF5"/>
                </a:solidFill>
                <a:latin typeface="PingFang SC"/>
                <a:ea typeface="PingFang SC"/>
              </a:rPr>
              <a:t>技术架构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705350" y="28003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技术栈与系统架构图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3810000" y="3895725"/>
            <a:ext cx="7810500" cy="647700"/>
          </a:xfrm>
          <a:custGeom>
            <a:pathLst>
              <a:path w="820" h="68">
                <a:moveTo>
                  <a:pt x="0" y="67"/>
                </a:moveTo>
                <a:lnTo>
                  <a:pt x="820" y="67"/>
                </a:lnTo>
                <a:lnTo>
                  <a:pt x="820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0" y="3895725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6F5E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705350" y="3905250"/>
            <a:ext cx="1857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DEFF5"/>
                </a:solidFill>
                <a:latin typeface="PingFang SC"/>
                <a:ea typeface="PingFang SC"/>
              </a:rPr>
              <a:t>功能矩阵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705350" y="41814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对话·语音·记忆·好感度·日记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810000" y="5267325"/>
            <a:ext cx="7810500" cy="647700"/>
          </a:xfrm>
          <a:custGeom>
            <a:pathLst>
              <a:path w="820" h="68">
                <a:moveTo>
                  <a:pt x="0" y="67"/>
                </a:moveTo>
                <a:lnTo>
                  <a:pt x="820" y="67"/>
                </a:lnTo>
                <a:lnTo>
                  <a:pt x="820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0" y="5267325"/>
            <a:ext cx="666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6F5E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705350" y="5276850"/>
            <a:ext cx="1285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DEFF5"/>
                </a:solidFill>
                <a:latin typeface="PingFang SC"/>
                <a:ea typeface="PingFang SC"/>
              </a:rPr>
              <a:t>工程亮点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705350" y="55530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隔离·安全·管理后台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1633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34" name="" descr="&lt;Slide style={{ width:'1280px', height:'720px', background:'#0B0D12', position:'relative', fontFamily:&quot;'PingFang SC','Inter',sans-serif&quot;, overflow:'hidden' }}&gt;&#10;  &lt;Box style={{ position:'absolute', top:-120, right:-100, width:520, height:520, borderRadius:260, background:'linear-gradient(135deg,#FF6F5E 0%,#FFAE6B 100%)', opacity:0.12 }} /&gt;&#10;  &lt;Box style={{ position:'relative', zIndex:2, height:'100%', padding:'0 110px', justifyContent:'center' }}&gt;&#10;    &lt;Text style={{ fontSize:200, fontWeight:'bold', color:'rgba(255,255,255,0.06)', lineHeight:1 }}&gt;01&lt;/Text&gt;&#10;    &lt;Box style={{ marginTop:-30 }}&gt;&#10;      &lt;Text style={{ fontSize:18, color:'rgba(237,239,245,0.55)', letterSpacing:4 }}&gt;CHAPTER 01&lt;/Text&gt;&#10;      &lt;Text style={{ fontSize:64, fontWeight:'bold', color:'#EDEFF5', marginTop:10 }}&gt;产品定位&lt;/Text&gt;&#10;      &lt;Box style={{ width:90, height:5, borderRadius:3, background:'linear-gradient(135deg,#FF6F5E 0%,#FFAE6B 100%)', marginTop:20 }} /&gt;&#10;      &lt;Text style={{ fontSize:20, color:'rgba(237,239,245,0.7)', marginTop:24 }}&gt;它是什么，又为谁解决了什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8191500" y="-11430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FF6F5E">
                  <a:alpha val="12000"/>
                </a:srgbClr>
              </a:gs>
              <a:gs pos="100000">
                <a:srgbClr val="FFAE6B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47750" y="1562100"/>
            <a:ext cx="100965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6000"/>
                  </a:srgbClr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47750" y="3562350"/>
            <a:ext cx="1009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CHAPTER 01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47750" y="3867150"/>
            <a:ext cx="10096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EDEFF5"/>
                </a:solidFill>
                <a:latin typeface="PingFang SC"/>
                <a:ea typeface="PingFang SC"/>
              </a:rPr>
              <a:t>产品定位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1047750" y="47910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47750" y="5067300"/>
            <a:ext cx="1009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它是什么，又为谁解决了什么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42" name="" descr="&lt;Slide style={{ width:'1280px', height:'720px', background:'#0B0D12', position:'relative', fontFamily:&quot;'PingFang SC','Inter',sans-serif&quot;, overflow:'hidden' }}&gt;&#10;  &lt;Box style={{ position:'absolute', top:-140, right:-120, width:520, height:520, borderRadius:260, background:'linear-gradient(135deg,#FFAE6B 0%,#FF6F5E 100%)', opacity:0.12 }} /&gt;&#10;  &lt;Box style={{ position:'relative', zIndex:2, height:'100%', padding:'0 96px', justifyContent:'center' }}&gt;&#10;    &lt;Text style={{ fontSize:20, color:'rgba(237,239,245,0.6)', letterSpacing:3 }}&gt;一句话讲清路瑶AI&lt;/Text&gt;&#10;    &lt;Text style={{ fontSize:52, fontWeight:'bold', color:'#EDEFF5', marginTop:22, lineHeight:1.5 }}&gt;&#10;      一个会&lt;span style={{ backgroundImage:'linear-gradient(135deg,#FF6F5E 0%,#FFAE6B 100%)', backgroundClip:'text', color:'transparent' }}&gt;记住你&lt;/span&gt;、&lt;br /&gt;对你&lt;span style={{ backgroundImage:'linear-gradient(135deg,#FF6F5E 0%,#FFAE6B 100%)', backgroundClip:'text', color:'transparent' }}&gt;日久生情&lt;/span&gt;的&lt;br /&gt;AI 聊天伴侣。&#10;    &lt;/Text&gt;&#10;    &lt;Text style={{ fontSize:20, color:'rgba(237,239,245,0.7)', marginTop:34, lineHeight:1.7, maxWidth:900 }}&gt;不是一次性问答机器人：它把每次对话沉淀为长期记忆与好感度，跨 Web、微信多端共享同一个「路瑶」，并提供实时语音通话、场景模式与自动日记。&lt;/Text&gt;&#10;  &lt;/Box&gt;&#10;  &lt;Box style={{ position:'absolute', bottom:38, right:96, zIndex:2 }}&gt;&#10;    &lt;Text style={{ fontSize:14, color:'rgba(237,239,245,0.5)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FFAE6B">
                  <a:alpha val="12000"/>
                </a:srgbClr>
              </a:gs>
              <a:gs pos="100000">
                <a:srgbClr val="FF6F5E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1323975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EDEFF5">
                    <a:alpha val="60000"/>
                  </a:srgbClr>
                </a:solidFill>
                <a:latin typeface="PingFang SC"/>
                <a:ea typeface="PingFang SC"/>
              </a:rPr>
              <a:t>一句话讲清路瑶</a:t>
            </a:r>
            <a:r>
              <a:rPr lang="en-US" sz="1500" spc="225">
                <a:solidFill>
                  <a:srgbClr val="EDEFF5">
                    <a:alpha val="60000"/>
                  </a:srgbClr>
                </a:solidFill>
                <a:latin typeface="PingFang SC"/>
                <a:ea typeface="PingFang SC"/>
              </a:rPr>
              <a:t>AI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14400" y="1762125"/>
            <a:ext cx="10363200" cy="26765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3900" b="1">
                <a:solidFill>
                  <a:srgbClr val="EDEFF5"/>
                </a:solidFill>
                <a:latin typeface="PingFang SC"/>
                <a:ea typeface="PingFang SC"/>
              </a:rPr>
              <a:t>一个会</a:t>
            </a:r>
            <a:r>
              <a:rPr lang="zh-CN" sz="3900" b="1">
                <a:gradFill>
                  <a:gsLst>
                    <a:gs pos="0">
                      <a:srgbClr val="FF6F5E"/>
                    </a:gs>
                    <a:gs pos="100000">
                      <a:srgbClr val="FFAE6B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记住你</a:t>
            </a:r>
            <a:r>
              <a:rPr lang="zh-CN" sz="3900" b="1">
                <a:solidFill>
                  <a:srgbClr val="EDEFF5"/>
                </a:solidFill>
                <a:latin typeface="PingFang SC"/>
                <a:ea typeface="PingFang SC"/>
              </a:rPr>
              <a:t>、</a:t>
            </a:r>
            <a:endParaRPr/>
          </a:p>
          <a:p>
            <a:pPr>
              <a:lnSpc>
                <a:spcPct val="150000"/>
              </a:lnSpc>
            </a:pPr>
            <a:r>
              <a:rPr lang="zh-CN" sz="3900" b="1">
                <a:solidFill>
                  <a:srgbClr val="EDEFF5"/>
                </a:solidFill>
                <a:latin typeface="PingFang SC"/>
                <a:ea typeface="PingFang SC"/>
              </a:rPr>
              <a:t>对你</a:t>
            </a:r>
            <a:r>
              <a:rPr lang="zh-CN" sz="3900" b="1">
                <a:gradFill>
                  <a:gsLst>
                    <a:gs pos="0">
                      <a:srgbClr val="FF6F5E"/>
                    </a:gs>
                    <a:gs pos="100000">
                      <a:srgbClr val="FFAE6B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日久生情</a:t>
            </a:r>
            <a:r>
              <a:rPr lang="zh-CN" sz="3900" b="1">
                <a:solidFill>
                  <a:srgbClr val="EDEFF5"/>
                </a:solidFill>
                <a:latin typeface="PingFang SC"/>
                <a:ea typeface="PingFang SC"/>
              </a:rPr>
              <a:t>的</a:t>
            </a:r>
            <a:endParaRPr/>
          </a:p>
          <a:p>
            <a:pPr>
              <a:lnSpc>
                <a:spcPct val="150000"/>
              </a:lnSpc>
            </a:pPr>
            <a:r>
              <a:rPr lang="en-US" sz="3900" b="1">
                <a:solidFill>
                  <a:srgbClr val="EDEFF5"/>
                </a:solidFill>
                <a:latin typeface="PingFang SC"/>
                <a:ea typeface="PingFang SC"/>
              </a:rPr>
              <a:t>AI </a:t>
            </a:r>
            <a:r>
              <a:rPr lang="zh-CN" sz="3900" b="1">
                <a:solidFill>
                  <a:srgbClr val="EDEFF5"/>
                </a:solidFill>
                <a:latin typeface="PingFang SC"/>
                <a:ea typeface="PingFang SC"/>
              </a:rPr>
              <a:t>聊天伴侣。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14400" y="4762500"/>
            <a:ext cx="103632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不是一次性问答机器人：它把每次对话沉淀为长期记忆与好感度，跨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Web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、微信多端共享同一个「路瑶」，并提供实时语音通话、场景模式与自动日记。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820400" y="63341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9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它解决什么问题&lt;/Text&gt;&#10;  &lt;/Box&gt;&#10;  &lt;Box style={{ height:500, flexDirection:'row', gap:36 }}&gt;&#10;    &lt;Box style={{ width:'58%', flexDirection:'column', gap:18 }}&gt;&#10;      &lt;Box style={{ flexDirection:'row', gap:18, alignItems:'flex-start', background:'rgba(255,255,255,0.05)', borderRadius:14, padding:20 }}&gt;&#10;        &lt;FAIcon name='comment' style={{ fill:'#FF6F5E', width:38, height:38 }} /&gt;&#10;        &lt;Box&gt;&lt;Text style={{ fontSize:22, fontWeight:'bold', color:'#EDEFF5' }}&gt;孤独时刻想说话&lt;/Text&gt;&lt;Text style={{ fontSize:17, color:'rgba(237,239,245,0.7)', marginTop:8, lineHeight:1.6 }}&gt;深夜、通勤、低落时，打开就有温度地陪聊，而非冷冰冰的搜索框。&lt;/Text&gt;&lt;/Box&gt;&#10;      &lt;/Box&gt;&#10;      &lt;Box style={{ flexDirection:'row', gap:18, alignItems:'flex-start', background:'rgba(255,255,255,0.05)', borderRadius:14, padding:20 }}&gt;&#10;        &lt;FAIcon name='brain' style={{ fill:'#FF6F5E', width:38, height:38 }} /&gt;&#10;        &lt;Box&gt;&lt;Text style={{ fontSize:22, fontWeight:'bold', color:'#EDEFF5' }}&gt;AI 总「记不住我」&lt;/Text&gt;&lt;Text style={{ fontSize:17, color:'rgba(237,239,245,0.7)', marginTop:8, lineHeight:1.6 }}&gt;长期记忆让路瑶记住你的偏好与往事，关系随时间越聊越熟。&lt;/Text&gt;&lt;/Box&gt;&#10;      &lt;/Box&gt;&#10;      &lt;Box style={{ flexDirection:'row', gap:18, alignItems:'flex-start', background:'rgba(255,255,255,0.05)', borderRadius:14, padding:20 }}&gt;&#10;        &lt;FAIcon name='mobile' style={{ fill:'#FF6F5E', width:38, height:38 }} /&gt;&#10;        &lt;Box&gt;&lt;Text style={{ fontSize:22, fontWeight:'bold', color:'#EDEFF5' }}&gt;多端割裂的陪伴&lt;/Text&gt;&lt;Text style={{ fontSize:17, color:'rgba(237,239,245,0.7)', marginTop:8, lineHeight:1.6 }}&gt;网页与微信共享同一份记忆，换设备不断档、不重头来过。&lt;/Text&gt;&lt;/Box&gt;&#10;      &lt;/Box&gt;&#10;    &lt;/Box&gt;&#10;    &lt;Box style={{ width:'42%', background:'linear-gradient(135deg,rgba(255,111,94,0.12) 0%,rgba(255,174,107,0.12) 100%)', borderRadius:16, padding:28, justifyContent:'center' }}&gt;&#10;      &lt;Text style={{ fontSize:18, color:'rgba(237,239,245,0.6)', letterSpacing:2 }}&gt;CORE VALUE&lt;/Text&gt;&#10;      &lt;Text style={{ fontSize:26, fontWeight:'bold', color:'#EDEFF5', marginTop:14, lineHeight:1.5 }}&gt;把「工具」变成&lt;br /&gt;「关系」&lt;/Text&gt;&#10;      &lt;Text style={{ fontSize:16, color:'rgba(237,239,245,0.72)', marginTop:18, lineHeight:1.7 }}&gt;情绪价值 × 记忆连续性 × 多端可达，是路瑶区别于通用聊天机器人的三点核心。&lt;/Text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它解决什么问题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71500" y="1143000"/>
            <a:ext cx="62103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333500"/>
            <a:ext cx="361950" cy="36195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295400" y="13335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DEFF5"/>
                </a:solidFill>
                <a:latin typeface="PingFang SC"/>
                <a:ea typeface="PingFang SC"/>
              </a:rPr>
              <a:t>孤独时刻想说话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295400" y="1666875"/>
            <a:ext cx="48577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深夜、通勤、低落时，打开就有温度地陪聊，而非冷冰冰的搜索框。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2343150"/>
            <a:ext cx="62103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2533650"/>
            <a:ext cx="361950" cy="36195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295400" y="2533650"/>
            <a:ext cx="4371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DEFF5"/>
                </a:solidFill>
                <a:latin typeface="PingFang SC"/>
                <a:ea typeface="PingFang SC"/>
              </a:rPr>
              <a:t>AI </a:t>
            </a:r>
            <a:r>
              <a:rPr lang="zh-CN" sz="1650" b="1">
                <a:solidFill>
                  <a:srgbClr val="EDEFF5"/>
                </a:solidFill>
                <a:latin typeface="PingFang SC"/>
                <a:ea typeface="PingFang SC"/>
              </a:rPr>
              <a:t>总「记不住我」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295400" y="2867025"/>
            <a:ext cx="43719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长期记忆让路瑶记住你的偏好与往事，关系随时间越聊越熟。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71500" y="3543300"/>
            <a:ext cx="6210300" cy="1028700"/>
          </a:xfrm>
          <a:prstGeom prst="roundRect">
            <a:avLst>
              <a:gd name="adj" fmla="val 1296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62000" y="3733800"/>
            <a:ext cx="361950" cy="361950"/>
          </a:xfrm>
          <a:prstGeom prst="rect">
            <a:avLst/>
          </a:prstGeom>
          <a:ln/>
        </p:spPr>
      </p:pic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295400" y="373380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DEFF5"/>
                </a:solidFill>
                <a:latin typeface="PingFang SC"/>
                <a:ea typeface="PingFang SC"/>
              </a:rPr>
              <a:t>多端割裂的陪伴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295400" y="4067175"/>
            <a:ext cx="4210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网页与微信共享同一份记忆，换设备不断档、不重头来过。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124700" y="1143000"/>
            <a:ext cx="4495800" cy="4762500"/>
          </a:xfrm>
          <a:prstGeom prst="roundRect">
            <a:avLst>
              <a:gd name="adj" fmla="val 3390"/>
            </a:avLst>
          </a:prstGeom>
          <a:gradFill>
            <a:gsLst>
              <a:gs pos="0">
                <a:srgbClr val="FF6F5E">
                  <a:alpha val="12000"/>
                </a:srgbClr>
              </a:gs>
              <a:gs pos="100000">
                <a:srgbClr val="FFAE6B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391400" y="250507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EDEFF5">
                    <a:alpha val="60000"/>
                  </a:srgbClr>
                </a:solidFill>
                <a:latin typeface="PingFang SC"/>
                <a:ea typeface="PingFang SC"/>
              </a:rPr>
              <a:t>CORE VALUE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391400" y="2847975"/>
            <a:ext cx="39624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DEFF5"/>
                </a:solidFill>
                <a:latin typeface="PingFang SC"/>
                <a:ea typeface="PingFang SC"/>
              </a:rPr>
              <a:t>把「工具」变成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DEFF5"/>
                </a:solidFill>
                <a:latin typeface="PingFang SC"/>
                <a:ea typeface="PingFang SC"/>
              </a:rPr>
              <a:t>「关系」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391400" y="3914775"/>
            <a:ext cx="3962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情绪价值</a:t>
            </a:r>
            <a:r>
              <a:rPr lang="en-US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记忆连续性</a:t>
            </a:r>
            <a:r>
              <a:rPr lang="en-US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多端可达，是路瑶区别于通用聊天机器人的三点核心。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633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70" name="" descr="&lt;Slide style={{ width:'1280px', height:'720px', background:'#0B0D12', position:'relative', fontFamily:&quot;'PingFang SC','Inter',sans-serif&quot;, overflow:'hidden' }}&gt;&#10;  &lt;Box style={{ position:'absolute', top:-120, right:-100, width:520, height:520, borderRadius:260, background:'linear-gradient(135deg,#FF6F5E 0%,#FFAE6B 100%)', opacity:0.12 }} /&gt;&#10;  &lt;Box style={{ position:'relative', zIndex:2, height:'100%', padding:'0 110px', justifyContent:'center' }}&gt;&#10;    &lt;Text style={{ fontSize:200, fontWeight:'bold', color:'rgba(255,255,255,0.06)', lineHeight:1 }}&gt;02&lt;/Text&gt;&#10;    &lt;Box style={{ marginTop:-30 }}&gt;&#10;      &lt;Text style={{ fontSize:18, color:'rgba(237,239,245,0.55)', letterSpacing:4 }}&gt;CHAPTER 02&lt;/Text&gt;&#10;      &lt;Text style={{ fontSize:64, fontWeight:'bold', color:'#EDEFF5', marginTop:10 }}&gt;技术架构&lt;/Text&gt;&#10;      &lt;Box style={{ width:90, height:5, borderRadius:3, background:'linear-gradient(135deg,#FF6F5E 0%,#FFAE6B 100%)', marginTop:20 }} /&gt;&#10;      &lt;Text style={{ fontSize:20, color:'rgba(237,239,245,0.7)', marginTop:24 }}&gt;技术栈与系统架构图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191500" y="-11430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FF6F5E">
                  <a:alpha val="12000"/>
                </a:srgbClr>
              </a:gs>
              <a:gs pos="100000">
                <a:srgbClr val="FFAE6B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47750" y="1562100"/>
            <a:ext cx="100965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6000"/>
                  </a:srgbClr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47750" y="3562350"/>
            <a:ext cx="1009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CHAPTER 02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47750" y="3867150"/>
            <a:ext cx="10096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EDEFF5"/>
                </a:solidFill>
                <a:latin typeface="PingFang SC"/>
                <a:ea typeface="PingFang SC"/>
              </a:rPr>
              <a:t>技术架构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047750" y="47910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47750" y="5067300"/>
            <a:ext cx="1009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技术栈与系统架构图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8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技术栈总览&lt;/Text&gt;&#10;  &lt;/Box&gt;&#10;  &lt;Box style={{ height:500, flexDirection:'row', gap:36 }}&gt;&#10;    &lt;Box style={{ width:300, justifyContent:'center' }}&gt;&#10;      &lt;Text style={{ fontSize:18, color:'rgba(237,239,245,0.55)', letterSpacing:3 }}&gt;STACK&lt;/Text&gt;&#10;      &lt;Box style={{ width:64, height:4, borderRadius:2, background:'linear-gradient(135deg,#FF6F5E 0%,#FFAE6B 100%)', marginTop:16 }} /&gt;&#10;      &lt;Text style={{ fontSize:16, color:'rgba(237,239,245,0.5)', marginTop:20, lineHeight:1.7 }}&gt;单 JVM 全栈，云原生组件即插即用。&lt;/Text&gt;&#10;    &lt;/Box&gt;&#10;    &lt;Box style={{ flex:1, flexDirection:'column', gap:16, justifyContent:'center' }}&gt;&#10;      &lt;Box style={{ flexDirection:'row', gap:18, alignItems:'center', background:'rgba(255,255,255,0.05)', borderRadius:12, padding:'16px 20px' }}&gt;&#10;        &lt;FAIcon name='server' style={{ fill:'#FF6F5E', width:32, height:32 }} /&gt;&#10;        &lt;Box&gt;&lt;Text style={{ fontSize:20, fontWeight:'bold', color:'#EDEFF5' }}&gt;后端 · Spring Boot 3 + Java 21&lt;/Text&gt;&lt;Text style={{ fontSize:15, color:'rgba(237,239,245,0.65)' }}&gt;单 JVM 同时承载主站 8083 与后台 8084&lt;/Text&gt;&lt;/Box&gt;&#10;      &lt;/Box&gt;&#10;      &lt;Box style={{ flexDirection:'row', gap:18, alignItems:'center', background:'rgba(255,255,255,0.05)', borderRadius:12, padding:'16px 20px' }}&gt;&#10;        &lt;FAIcon name='database' style={{ fill:'#FF6F5E', width:32, height:32 }} /&gt;&#10;        &lt;Box&gt;&lt;Text style={{ fontSize:20, fontWeight:'bold', color:'#EDEFF5' }}&gt;存储 · MySQL&lt;/Text&gt;&lt;Text style={{ fontSize:15, color:'rgba(237,239,245,0.65)' }}&gt;每账号独立物理表，聊天/记忆/好感度隔离&lt;/Text&gt;&lt;/Box&gt;&#10;      &lt;/Box&gt;&#10;      &lt;Box style={{ flexDirection:'row', gap:18, alignItems:'center', background:'rgba(255,255,255,0.05)', borderRadius:12, padding:'16px 20px' }}&gt;&#10;        &lt;FAIcon name='robot' style={{ fill:'#FF6F5E', width:32, height:32 }} /&gt;&#10;        &lt;Box&gt;&lt;Text style={{ fontSize:20, fontWeight:'bold', color:'#EDEFF5' }}&gt;AI · DeepSeek + 火山 + 豆包&lt;/Text&gt;&lt;Text style={{ fontSize:15, color:'rgba(237,239,245,0.65)' }}&gt;LLM 对话 / TTS·ASR / 端到端实时语音&lt;/Text&gt;&lt;/Box&gt;&#10;      &lt;/Box&gt;&#10;      &lt;Box style={{ flexDirection:'row', gap:18, alignItems:'center', background:'rgba(255,255,255,0.05)', borderRadius:12, padding:'16px 20px' }}&gt;&#10;        &lt;FAIcon name='comment' style={{ fill:'#FF6F5E', width:32, height:32 }} /&gt;&#10;        &lt;Box&gt;&lt;Text style={{ fontSize:20, fontWeight:'bold', color:'#EDEFF5' }}&gt;前端 · 多屏 SPA&lt;/Text&gt;&lt;Text style={{ fontSize:15, color:'rgba(237,239,245,0.65)' }}&gt;深色主题聊天 / 记忆 / 我的 / 日记四屏&lt;/Text&gt;&lt;/Box&gt;&#10;      &lt;/Box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07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技术栈总览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71500" y="307657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STACK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71500" y="3438525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3667125"/>
            <a:ext cx="2857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单</a:t>
            </a:r>
            <a:r>
              <a:rPr lang="en-US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 JVM </a:t>
            </a:r>
            <a:r>
              <a:rPr lang="zh-CN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全栈，云原生组件即插即用。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771900" y="1885950"/>
            <a:ext cx="7848600" cy="704850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62400" y="2085975"/>
            <a:ext cx="304800" cy="3048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438650" y="203835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DEFF5"/>
                </a:solidFill>
                <a:latin typeface="PingFang SC"/>
                <a:ea typeface="PingFang SC"/>
              </a:rPr>
              <a:t>后端</a:t>
            </a:r>
            <a:r>
              <a:rPr lang="en-US" sz="1500" b="1">
                <a:solidFill>
                  <a:srgbClr val="EDEFF5"/>
                </a:solidFill>
                <a:latin typeface="PingFang SC"/>
                <a:ea typeface="PingFang SC"/>
              </a:rPr>
              <a:t> · Spring Boot 3 + Java 21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438650" y="22669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单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JVM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同时承载主站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8083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与后台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8084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771900" y="2743200"/>
            <a:ext cx="7848600" cy="704850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62400" y="2943225"/>
            <a:ext cx="304800" cy="30480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438650" y="2895600"/>
            <a:ext cx="2714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DEFF5"/>
                </a:solidFill>
                <a:latin typeface="PingFang SC"/>
                <a:ea typeface="PingFang SC"/>
              </a:rPr>
              <a:t>存储</a:t>
            </a:r>
            <a:r>
              <a:rPr lang="en-US" sz="1500" b="1">
                <a:solidFill>
                  <a:srgbClr val="EDEFF5"/>
                </a:solidFill>
                <a:latin typeface="PingFang SC"/>
                <a:ea typeface="PingFang SC"/>
              </a:rPr>
              <a:t> · MySQL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38650" y="3124200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每账号独立物理表，聊天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记忆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好感度隔离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771900" y="3600450"/>
            <a:ext cx="7848600" cy="704850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62400" y="3800475"/>
            <a:ext cx="304800" cy="30480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438650" y="3752850"/>
            <a:ext cx="2581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DEFF5"/>
                </a:solidFill>
                <a:latin typeface="PingFang SC"/>
                <a:ea typeface="PingFang SC"/>
              </a:rPr>
              <a:t>AI · DeepSeek + </a:t>
            </a:r>
            <a:r>
              <a:rPr lang="zh-CN" sz="1500" b="1">
                <a:solidFill>
                  <a:srgbClr val="EDEFF5"/>
                </a:solidFill>
                <a:latin typeface="PingFang SC"/>
                <a:ea typeface="PingFang SC"/>
              </a:rPr>
              <a:t>火山</a:t>
            </a:r>
            <a:r>
              <a:rPr lang="en-US" sz="1500" b="1">
                <a:solidFill>
                  <a:srgbClr val="EDEFF5"/>
                </a:solidFill>
                <a:latin typeface="PingFang SC"/>
                <a:ea typeface="PingFang SC"/>
              </a:rPr>
              <a:t> + </a:t>
            </a:r>
            <a:r>
              <a:rPr lang="zh-CN" sz="1500" b="1">
                <a:solidFill>
                  <a:srgbClr val="EDEFF5"/>
                </a:solidFill>
                <a:latin typeface="PingFang SC"/>
                <a:ea typeface="PingFang SC"/>
              </a:rPr>
              <a:t>豆包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438650" y="3981450"/>
            <a:ext cx="2581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LLM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对话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TTS·ASR /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端到端实时语音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771900" y="4457700"/>
            <a:ext cx="7848600" cy="704850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62400" y="4657725"/>
            <a:ext cx="304800" cy="30480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438650" y="4610100"/>
            <a:ext cx="2505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DEFF5"/>
                </a:solidFill>
                <a:latin typeface="PingFang SC"/>
                <a:ea typeface="PingFang SC"/>
              </a:rPr>
              <a:t>前端</a:t>
            </a:r>
            <a:r>
              <a:rPr lang="en-US" sz="150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1500" b="1">
                <a:solidFill>
                  <a:srgbClr val="EDEFF5"/>
                </a:solidFill>
                <a:latin typeface="PingFang SC"/>
                <a:ea typeface="PingFang SC"/>
              </a:rPr>
              <a:t>多屏</a:t>
            </a:r>
            <a:r>
              <a:rPr lang="en-US" sz="1500" b="1">
                <a:solidFill>
                  <a:srgbClr val="EDEFF5"/>
                </a:solidFill>
                <a:latin typeface="PingFang SC"/>
                <a:ea typeface="PingFang SC"/>
              </a:rPr>
              <a:t> SPA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438650" y="4838700"/>
            <a:ext cx="2505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深色主题聊天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记忆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我的</a:t>
            </a:r>
            <a:r>
              <a:rPr lang="en-US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25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日记四屏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2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系统架构图&lt;/Text&gt;&#10;  &lt;/Box&gt;&#10;  &lt;Box style={{ height:500, justifyContent:'center', alignItems:'center' }}&gt;&#10;    &lt;svg width={1060} height={430} viewBox='0 0 1060 430'&gt;&#10;      &lt;rect x='20' y='20' width='320' height='70' rx='12' fill='rgba(255,255,255,0.05)' stroke='rgba(255,255,255,0.12)' /&gt;&#10;      &lt;text x='180' y='62' fill='#EDEFF5' fontSize='20' fontWeight='bold' textAnchor='middle'&gt;Web 主站 · 8083&lt;/text&gt;&#10;      &lt;rect x='370' y='20' width='320' height='70' rx='12' fill='rgba(255,255,255,0.05)' stroke='rgba(255,255,255,0.12)' /&gt;&#10;      &lt;text x='530' y='62' fill='#EDEFF5' fontSize='20' fontWeight='bold' textAnchor='middle'&gt;微信 iLink 接入&lt;/text&gt;&#10;      &lt;rect x='720' y='20' width='320' height='70' rx='12' fill='rgba(255,255,255,0.05)' stroke='rgba(255,255,255,0.12)' /&gt;&#10;      &lt;text x='880' y='62' fill='#EDEFF5' fontSize='20' fontWeight='bold' textAnchor='middle'&gt;管理后台 · 8084&lt;/text&gt;&#10;&#10;      &lt;line x1='180' y1='90' x2='530' y2='160' stroke='rgba(255,255,255,0.18)' strokeWidth='2' /&gt;&#10;      &lt;line x1='530' y1='90' x2='530' y2='160' stroke='rgba(255,255,255,0.18)' strokeWidth='2' /&gt;&#10;      &lt;line x1='880' y1='90' x2='530' y2='160' stroke='rgba(255,255,255,0.18)' strokeWidth='2' /&gt;&#10;&#10;      &lt;rect x='230' y='160' width='600' height='90' rx='14' fill='rgba(255,111,94,0.12)' stroke='rgba(255,111,94,0.5)' /&gt;&#10;      &lt;text x='530' y='196' fill='#EDEFF5' fontSize='22' fontWeight='bold' textAnchor='middle'&gt;Spring Boot 单 JVM 后端&lt;/text&gt;&#10;      &lt;text x='530' y='224' fill='rgba(237,239,245,0.7)' fontSize='16' textAnchor='middle'&gt;对话引擎 · 记忆 · 好感度 · 场景 · 提醒 · 日记&lt;/text&gt;&#10;&#10;      &lt;line x1='530' y1='250' x2='530' y2='310' stroke='rgba(255,255,255,0.18)' strokeWidth='2' /&gt;&#10;&#10;      &lt;rect x='20' y='310' width='240' height='90' rx='12' fill='rgba(255,255,255,0.05)' stroke='rgba(255,255,255,0.12)' /&gt;&#10;      &lt;text x='140' y='348' fill='#EDEFF5' fontSize='17' fontWeight='bold' textAnchor='middle'&gt;DeepSeek&lt;/text&gt;&#10;      &lt;text x='140' y='372' fill='rgba(237,239,245,0.65)' fontSize='14' textAnchor='middle'&gt;LLM 对话&lt;/text&gt;&#10;&#10;      &lt;rect x='280' y='310' width='240' height='90' rx='12' fill='rgba(255,255,255,0.05)' stroke='rgba(255,255,255,0.12)' /&gt;&#10;      &lt;text x='400' y='348' fill='#EDEFF5' fontSize='17' fontWeight='bold' textAnchor='middle'&gt;火山引擎&lt;/text&gt;&#10;      &lt;text x='400' y='372' fill='rgba(237,239,245,0.65)' fontSize='14' textAnchor='middle'&gt;TTS · ASR&lt;/text&gt;&#10;&#10;      &lt;rect x='540' y='310' width='240' height='90' rx='12' fill='rgba(255,255,255,0.05)' stroke='rgba(255,255,255,0.12)' /&gt;&#10;      &lt;text x='660' y='348' fill='#EDEFF5' fontSize='17' fontWeight='bold' textAnchor='middle'&gt;豆包 Realtime&lt;/text&gt;&#10;      &lt;text x='660' y='372' fill='rgba(237,239,245,0.65)' fontSize='14' textAnchor='middle'&gt;实时语音 S2S&lt;/text&gt;&#10;&#10;      &lt;rect x='800' y='310' width='240' height='90' rx='12' fill='rgba(255,255,255,0.05)' stroke='rgba(255,255,255,0.12)' /&gt;&#10;      &lt;text x='920' y='348' fill='#EDEFF5' fontSize='17' fontWeight='bold' textAnchor='middle'&gt;MySQL&lt;/text&gt;&#10;      &lt;text x='920' y='372' fill='rgba(237,239,245,0.65)' fontSize='14' textAnchor='middle'&gt;每账号独立表&lt;/text&gt;&#10;    &lt;/svg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系统架构图</a:t>
            </a:r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47750" y="1476375"/>
            <a:ext cx="10096500" cy="409575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633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08" name="" descr="&lt;Slide style={{ width:'1280px', height:'720px', background:'#0B0D12', position:'relative', fontFamily:&quot;'PingFang SC','Inter',sans-serif&quot;, overflow:'hidden' }}&gt;&#10;  &lt;Box style={{ position:'absolute', top:-120, right:-100, width:520, height:520, borderRadius:260, background:'linear-gradient(135deg,#FF6F5E 0%,#FFAE6B 100%)', opacity:0.12 }} /&gt;&#10;  &lt;Box style={{ position:'relative', zIndex:2, height:'100%', padding:'0 110px', justifyContent:'center' }}&gt;&#10;    &lt;Text style={{ fontSize:200, fontWeight:'bold', color:'rgba(255,255,255,0.06)', lineHeight:1 }}&gt;03&lt;/Text&gt;&#10;    &lt;Box style={{ marginTop:-30 }}&gt;&#10;      &lt;Text style={{ fontSize:18, color:'rgba(237,239,245,0.55)', letterSpacing:4 }}&gt;CHAPTER 03&lt;/Text&gt;&#10;      &lt;Text style={{ fontSize:64, fontWeight:'bold', color:'#EDEFF5', marginTop:10 }}&gt;功能矩阵&lt;/Text&gt;&#10;      &lt;Box style={{ width:90, height:5, borderRadius:3, background:'linear-gradient(135deg,#FF6F5E 0%,#FFAE6B 100%)', marginTop:20 }} /&gt;&#10;      &lt;Text style={{ fontSize:20, color:'rgba(237,239,245,0.7)', marginTop:24 }}&gt;对话 · 语音 · 记忆 · 好感度 · 日记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191500" y="-11430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FF6F5E">
                  <a:alpha val="12000"/>
                </a:srgbClr>
              </a:gs>
              <a:gs pos="100000">
                <a:srgbClr val="FFAE6B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47750" y="1562100"/>
            <a:ext cx="100965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6000"/>
                  </a:srgbClr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47750" y="3562350"/>
            <a:ext cx="1009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CHAPTER 03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47750" y="3867150"/>
            <a:ext cx="10096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EDEFF5"/>
                </a:solidFill>
                <a:latin typeface="PingFang SC"/>
                <a:ea typeface="PingFang SC"/>
              </a:rPr>
              <a:t>功能矩阵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1047750" y="47910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047750" y="5067300"/>
            <a:ext cx="1009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对话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语音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记忆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好感度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日记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智能对话与语音&lt;/Text&gt;&#10;  &lt;/Box&gt;&#10;  &lt;Box style={{ height:500, flexDirection:'row', gap:32 }}&gt;&#10;    &lt;Box style={{ width:'60%', flexDirection:'column', gap:16 }}&gt;&#10;      &lt;Box style={{ flexDirection:'row', gap:18, alignItems:'center', background:'rgba(255,255,255,0.05)', borderRadius:14, padding:'18px 22px' }}&gt;&#10;        &lt;FAIcon name='comment' style={{ fill:'#FF6F5E', width:36, height:36 }} /&gt;&#10;        &lt;Box&gt;&lt;Text style={{ fontSize:21, fontWeight:'bold', color:'#EDEFF5' }}&gt;流式智能对话&lt;/Text&gt;&lt;Text style={{ fontSize:15, color:'rgba(237,239,245,0.7)', marginTop:6, lineHeight:1.5 }}&gt;DeepSeek 驱动，逐句流式输出，对话中实时累积好感度。&lt;/Text&gt;&lt;/Box&gt;&#10;      &lt;/Box&gt;&#10;      &lt;Box style={{ flexDirection:'row', gap:18, alignItems:'center', background:'rgba(255,255,255,0.05)', borderRadius:14, padding:'18px 22px' }}&gt;&#10;        &lt;FAIcon name='microphone' style={{ fill:'#FF6F5E', width:36, height:36 }} /&gt;&#10;        &lt;Box&gt;&lt;Text style={{ fontSize:21, fontWeight:'bold', color:'#EDEFF5' }}&gt;端到端实时语音通话&lt;/Text&gt;&lt;Text style={{ fontSize:15, color:'rgba(237,239,245,0.7)', marginTop:6, lineHeight:1.5 }}&gt;豆包 Realtime 全双工 S2S，支持打断、静音、沉默提示。&lt;/Text&gt;&lt;/Box&gt;&#10;      &lt;/Box&gt;&#10;      &lt;Box style={{ flexDirection:'row', gap:18, alignItems:'center', background:'rgba(255,255,255,0.05)', borderRadius:14, padding:'18px 22px' }}&gt;&#10;        &lt;FAIcon name='volume-up' style={{ fill:'#FF6F5E', width:36, height:36 }} /&gt;&#10;        &lt;Box&gt;&lt;Text style={{ fontSize:21, fontWeight:'bold', color:'#EDEFF5' }}&gt;语音合成与声音复刻&lt;/Text&gt;&lt;Text style={{ fontSize:15, color:'rgba(237,239,245,0.7)', marginTop:6, lineHeight:1.5 }}&gt;火山 TTS 甜美女声，支持自定义音色复刻。&lt;/Text&gt;&lt;/Box&gt;&#10;      &lt;/Box&gt;&#10;    &lt;/Box&gt;&#10;    &lt;Box style={{ width:'40%', background:'linear-gradient(135deg,rgba(255,111,94,0.14) 0%,rgba(255,174,107,0.14) 100%)', borderRadius:16, padding:28, justifyContent:'center' }}&gt;&#10;      &lt;FAIcon name='bolt' style={{ fill:'#FFAE6B', width:48, height:48 }} /&gt;&#10;      &lt;Text style={{ fontSize:24, fontWeight:'bold', color:'#EDEFF5', marginTop:18, lineHeight:1.5 }}&gt;低延迟&lt;br /&gt;全双工体验&lt;/Text&gt;&#10;      &lt;Text style={{ fontSize:16, color:'rgba(237,239,245,0.72)', marginTop:16, lineHeight:1.7 }}&gt;ASR + LLM + TTS 在单一 WebSocket 内完成，对话像真人一样自然连贯。&lt;/Text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智能对话与语音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71500" y="1143000"/>
            <a:ext cx="6448425" cy="904875"/>
          </a:xfrm>
          <a:prstGeom prst="roundRect">
            <a:avLst>
              <a:gd name="adj" fmla="val 1473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428750"/>
            <a:ext cx="342900" cy="34290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295400" y="1314450"/>
            <a:ext cx="3724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EFF5"/>
                </a:solidFill>
                <a:latin typeface="PingFang SC"/>
                <a:ea typeface="PingFang SC"/>
              </a:rPr>
              <a:t>流式智能对话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295400" y="161925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DeepSeek </a:t>
            </a:r>
            <a:r>
              <a:rPr lang="zh-CN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驱动，逐句流式输出，对话中实时累积好感度。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71500" y="2200275"/>
            <a:ext cx="6448425" cy="904875"/>
          </a:xfrm>
          <a:prstGeom prst="roundRect">
            <a:avLst>
              <a:gd name="adj" fmla="val 1473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1050" y="2486025"/>
            <a:ext cx="342900" cy="342900"/>
          </a:xfrm>
          <a:prstGeom prst="rect">
            <a:avLst/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295400" y="2371725"/>
            <a:ext cx="3705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EFF5"/>
                </a:solidFill>
                <a:latin typeface="PingFang SC"/>
                <a:ea typeface="PingFang SC"/>
              </a:rPr>
              <a:t>端到端实时语音通话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295400" y="2676525"/>
            <a:ext cx="3705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豆包</a:t>
            </a:r>
            <a:r>
              <a:rPr lang="en-US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Realtime </a:t>
            </a:r>
            <a:r>
              <a:rPr lang="zh-CN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全双工</a:t>
            </a:r>
            <a:r>
              <a:rPr lang="en-US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S2S</a:t>
            </a:r>
            <a:r>
              <a:rPr lang="zh-CN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，支持打断、静音、沉默提示。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71500" y="3257550"/>
            <a:ext cx="6448425" cy="904875"/>
          </a:xfrm>
          <a:prstGeom prst="roundRect">
            <a:avLst>
              <a:gd name="adj" fmla="val 1473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81050" y="3543300"/>
            <a:ext cx="342900" cy="3429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95400" y="3429000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DEFF5"/>
                </a:solidFill>
                <a:latin typeface="PingFang SC"/>
                <a:ea typeface="PingFang SC"/>
              </a:rPr>
              <a:t>语音合成与声音复刻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295400" y="3733800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火山</a:t>
            </a:r>
            <a:r>
              <a:rPr lang="en-US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TTS </a:t>
            </a:r>
            <a:r>
              <a:rPr lang="zh-CN" sz="1125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甜美女声，支持自定义音色复刻。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7324725" y="1143000"/>
            <a:ext cx="4295775" cy="4762500"/>
          </a:xfrm>
          <a:prstGeom prst="roundRect">
            <a:avLst>
              <a:gd name="adj" fmla="val 3548"/>
            </a:avLst>
          </a:prstGeom>
          <a:gradFill>
            <a:gsLst>
              <a:gs pos="0">
                <a:srgbClr val="FF6F5E">
                  <a:alpha val="14000"/>
                </a:srgbClr>
              </a:gs>
              <a:gs pos="100000">
                <a:srgbClr val="FFAE6B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591425" y="2409825"/>
            <a:ext cx="457200" cy="45720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591425" y="3038475"/>
            <a:ext cx="3762375" cy="828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EDEFF5"/>
                </a:solidFill>
                <a:latin typeface="PingFang SC"/>
                <a:ea typeface="PingFang SC"/>
              </a:rPr>
              <a:t>低延迟</a:t>
            </a:r>
            <a:endParaRPr/>
          </a:p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EDEFF5"/>
                </a:solidFill>
                <a:latin typeface="PingFang SC"/>
                <a:ea typeface="PingFang SC"/>
              </a:rPr>
              <a:t>全双工体验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591425" y="4019550"/>
            <a:ext cx="3762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ASR + LLM + TTS </a:t>
            </a:r>
            <a:r>
              <a:rPr lang="zh-CN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在单一</a:t>
            </a:r>
            <a:r>
              <a:rPr lang="en-US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 WebSocket </a:t>
            </a:r>
            <a:r>
              <a:rPr lang="zh-CN" sz="12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内完成，对话像真人一样自然连贯。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191875" y="61150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1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记忆 · 好感度 · 场景 · 提醒 · 日记&lt;/Text&gt;&#10;  &lt;/Box&gt;&#10;  &lt;Box style={{ height:500, flexDirection:'row', gap:36 }}&gt;&#10;    &lt;Box style={{ width:280, justifyContent:'center' }}&gt;&#10;      &lt;Text style={{ fontSize:18, color:'rgba(237,239,245,0.55)', letterSpacing:3 }}&gt;FEATURES&lt;/Text&gt;&#10;      &lt;Box style={{ width:64, height:4, borderRadius:2, background:'linear-gradient(135deg,#FF6F5E 0%,#FFAE6B 100%)', marginTop:16 }} /&gt;&#10;      &lt;Text style={{ fontSize:16, color:'rgba(237,239,245,0.5)', marginTop:20, lineHeight:1.7 }}&gt;让陪伴「有记忆、有情绪、有节奏」的五块基石。&lt;/Text&gt;&#10;    &lt;/Box&gt;&#10;    &lt;Box style={{ flex:1, flexDirection:'column', gap:13, justifyContent:'center' }}&gt;&#10;      &lt;Box style={{ flexDirection:'row', gap:16, alignItems:'center' }}&gt;&lt;FAIcon name='brain' style={{ fill:'#FF6F5E', width:30, height:30 }} /&gt;&lt;Box&gt;&lt;Text style={{ fontSize:19, fontWeight:'bold', color:'#EDEFF5' }}&gt;长期记忆&lt;/Text&gt;&lt;Text style={{ fontSize:14, color:'rgba(237,239,245,0.65)' }}&gt;短期 6 轮 + 长期自动提取，越聊越懂你&lt;/Text&gt;&lt;/Box&gt;&lt;/Box&gt;&#10;      &lt;Box style={{ flexDirection:'row', gap:16, alignItems:'center' }}&gt;&lt;FAIcon name='heart' style={{ fill:'#FF6F5E', width:30, height:30 }} /&gt;&lt;Box&gt;&lt;Text style={{ fontSize:19, fontWeight:'bold', color:'#EDEFF5' }}&gt;好感度系统&lt;/Text&gt;&lt;Text style={{ fontSize:14, color:'rgba(237,239,245,0.65)' }}&gt;对话实时累积情感，档案页可视化呈现&lt;/Text&gt;&lt;/Box&gt;&lt;/Box&gt;&#10;      &lt;Box style={{ flexDirection:'row', gap:16, alignItems:'center' }}&gt;&lt;FAIcon name='magic' style={{ fill:'#FF6F5E', width:30, height:30 }} /&gt;&lt;Box&gt;&lt;Text style={{ fontSize:19, fontWeight:'bold', color:'#EDEFF5' }}&gt;场景模式&lt;/Text&gt;&lt;Text style={{ fontSize:14, color:'rgba(237,239,245,0.65)' }}&gt;日常/晚安/倾诉/逗趣，切换人设与语速&lt;/Text&gt;&lt;/Box&gt;&lt;/Box&gt;&#10;      &lt;Box style={{ flexDirection:'row', gap:16, alignItems:'center' }}&gt;&lt;FAIcon name='bell' style={{ fill:'#FF6F5E', width:30, height:30 }} /&gt;&lt;Box&gt;&lt;Text style={{ fontSize:19, fontWeight:'bold', color:'#EDEFF5' }}&gt;定时陪伴提醒&lt;/Text&gt;&lt;Text style={{ fontSize:14, color:'rgba(237,239,245,0.65)' }}&gt;早安/晚安/纪念日，在线时主动推送&lt;/Text&gt;&lt;/Box&gt;&lt;/Box&gt;&#10;      &lt;Box style={{ flexDirection:'row', gap:16, alignItems:'center' }}&gt;&lt;FAIcon name='book' style={{ fill:'#FF6F5E', width:30, height:30 }} /&gt;&lt;Box&gt;&lt;Text style={{ fontSize:19, fontWeight:'bold', color:'#EDEFF5' }}&gt;AI 情绪日记&lt;/Text&gt;&lt;Text style={{ fontSize:14, color:'rgba(237,239,245,0.65)' }}&gt;自动生成含真实天气的日记，可编辑导出&lt;/Text&gt;&lt;/Box&gt;&lt;/Box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11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记忆</a:t>
            </a:r>
            <a:r>
              <a:rPr lang="en-US" sz="255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好感度</a:t>
            </a:r>
            <a:r>
              <a:rPr lang="en-US" sz="255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场景</a:t>
            </a:r>
            <a:r>
              <a:rPr lang="en-US" sz="255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提醒</a:t>
            </a:r>
            <a:r>
              <a:rPr lang="en-US" sz="255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日记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1500" y="2914650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FEATURES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71500" y="32766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3505200"/>
            <a:ext cx="2667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让陪伴「有记忆、有情绪、有节奏」的五块基石。</a:t>
            </a:r>
            <a:endParaRPr/>
          </a:p>
        </p:txBody>
      </p:sp>
      <p:pic>
        <p:nvPicPr>
          <p:cNvPr id="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81400" y="2371725"/>
            <a:ext cx="285750" cy="285750"/>
          </a:xfrm>
          <a:prstGeom prst="rect">
            <a:avLst/>
          </a:prstGeom>
          <a:ln/>
        </p:spPr>
      </p:pic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019550" y="2324100"/>
            <a:ext cx="2343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长期记忆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019550" y="2543175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短期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6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轮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长期自动提取，越聊越懂你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81400" y="2876550"/>
            <a:ext cx="285750" cy="285750"/>
          </a:xfrm>
          <a:prstGeom prst="rect">
            <a:avLst/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019550" y="2828925"/>
            <a:ext cx="2266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好感度系统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019550" y="30480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对话实时累积情感，档案页可视化呈现</a:t>
            </a:r>
            <a:endParaRPr/>
          </a:p>
        </p:txBody>
      </p:sp>
      <p:pic>
        <p:nvPicPr>
          <p:cNvPr id="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581400" y="3381375"/>
            <a:ext cx="285750" cy="28575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019550" y="3333750"/>
            <a:ext cx="2333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场景模式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019550" y="355282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日常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晚安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倾诉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逗趣，切换人设与语速</a:t>
            </a:r>
            <a:endParaRPr/>
          </a:p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581400" y="3886200"/>
            <a:ext cx="285750" cy="285750"/>
          </a:xfrm>
          <a:prstGeom prst="rect">
            <a:avLst/>
          </a:prstGeom>
          <a:ln/>
        </p:spPr>
      </p:pic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019550" y="383857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定时陪伴提醒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019550" y="40576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早安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晚安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纪念日，在线时主动推送</a:t>
            </a:r>
            <a:endParaRPr/>
          </a:p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581400" y="4391025"/>
            <a:ext cx="285750" cy="28575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019550" y="4343400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DEFF5"/>
                </a:solidFill>
                <a:latin typeface="PingFang SC"/>
                <a:ea typeface="PingFang SC"/>
              </a:rPr>
              <a:t>AI </a:t>
            </a: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情绪日记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019550" y="45624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自动生成含真实天气的日记，可编辑导出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220450" y="6115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4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账号体系与多端互通&lt;/Text&gt;&#10;  &lt;/Box&gt;&#10;  &lt;Box style={{ height:500, flexDirection:'row', gap:32 }}&gt;&#10;    &lt;Box style={{ width:'52%', flexDirection:'column', gap:16, justifyContent:'center' }}&gt;&#10;      &lt;Text style={{ fontSize:20, fontWeight:'bold', color:'#FFAE6B' }}&gt;账号体系&lt;/Text&gt;&#10;      &lt;Box style={{ flexDirection:'row', gap:14, alignItems:'center' }}&gt;&lt;FAIcon name='mobile' style={{ fill:'#FF6F5E', width:28, height:28 }} /&gt;&lt;Text style={{ fontSize:17, color:'rgba(237,239,245,0.8)' }}&gt;手机验证码 / 微信扫码 / 密码登录&lt;/Text&gt;&lt;/Box&gt;&#10;      &lt;Box style={{ flexDirection:'row', gap:14, alignItems:'center' }}&gt;&lt;FAIcon name='layer-group' style={{ fill:'#FF6F5E', width:28, height:28 }} /&gt;&lt;Text style={{ fontSize:17, color:'rgba(237,239,245,0.8)' }}&gt;每账号独立物理表，数据天然隔离&lt;/Text&gt;&lt;/Box&gt;&#10;      &lt;Box style={{ flexDirection:'row', gap:14, alignItems:'center' }}&gt;&lt;FAIcon name='shield' style={{ fill:'#FF6F5E', width:28, height:28 }} /&gt;&lt;Text style={{ fontSize:17, color:'rgba(237,239,245,0.8)' }}&gt;密码 PBKDF2 加盐哈希存储&lt;/Text&gt;&lt;/Box&gt;&#10;    &lt;/Box&gt;&#10;    &lt;Box style={{ width:'48%', background:'rgba(255,255,255,0.05)', borderRadius:16, padding:28, justifyContent:'center' }}&gt;&#10;      &lt;Text style={{ fontSize:20, fontWeight:'bold', color:'#FFAE6B' }}&gt;多端互通&lt;/Text&gt;&#10;      &lt;Text style={{ fontSize:16, color:'rgba(237,239,245,0.75)', marginTop:14, lineHeight:1.7 }}&gt;微信 iLink 接入后，网页与微信共享同一份记忆与好感度；换设备时「会话合并」把旧记录无损迁到登录账号，关系不断档。&lt;/Text&gt;&#10;      &lt;Box style={{ flexDirection:'row', gap:14, alignItems:'center', marginTop:18 }}&gt;&lt;FAIcon name='share' style={{ fill:'#FF6F5E', width:28, height:28 }} /&gt;&lt;Text style={{ fontSize:17, color:'rgba(237,239,245,0.8)' }}&gt;一个路瑶，处处相随&lt;/Text&gt;&lt;/Box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账号体系与多端互通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591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AE6B"/>
                </a:solidFill>
                <a:latin typeface="PingFang SC"/>
                <a:ea typeface="PingFang SC"/>
              </a:rPr>
              <a:t>账号体系</a:t>
            </a:r>
            <a:endParaRPr/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3162300"/>
            <a:ext cx="266700" cy="266700"/>
          </a:xfrm>
          <a:prstGeom prst="rect">
            <a:avLst/>
          </a:prstGeom>
          <a:ln/>
        </p:spPr>
      </p:pic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71550" y="3200400"/>
            <a:ext cx="2486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手机验证码</a:t>
            </a:r>
            <a:r>
              <a:rPr lang="en-US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微信扫码</a:t>
            </a:r>
            <a:r>
              <a:rPr lang="en-US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密码登录</a:t>
            </a:r>
            <a:endParaRPr/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1500" y="3581400"/>
            <a:ext cx="266700" cy="266700"/>
          </a:xfrm>
          <a:prstGeom prst="rect">
            <a:avLst/>
          </a:prstGeom>
          <a:ln/>
        </p:spPr>
      </p:pic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71550" y="361950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每账号独立物理表，数据天然隔离</a:t>
            </a:r>
            <a:endParaRPr/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71500" y="4000500"/>
            <a:ext cx="266700" cy="266700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71550" y="4038600"/>
            <a:ext cx="2038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密码</a:t>
            </a:r>
            <a:r>
              <a:rPr lang="en-US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 PBKDF2 </a:t>
            </a: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加盐哈希存储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467475" y="1143000"/>
            <a:ext cx="5153025" cy="4762500"/>
          </a:xfrm>
          <a:prstGeom prst="roundRect">
            <a:avLst>
              <a:gd name="adj" fmla="val 320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734175" y="2809875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AE6B"/>
                </a:solidFill>
                <a:latin typeface="PingFang SC"/>
                <a:ea typeface="PingFang SC"/>
              </a:rPr>
              <a:t>多端互通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734175" y="3171825"/>
            <a:ext cx="46196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DEFF5">
                    <a:alpha val="75000"/>
                  </a:srgbClr>
                </a:solidFill>
                <a:latin typeface="PingFang SC"/>
                <a:ea typeface="PingFang SC"/>
              </a:rPr>
              <a:t>微信</a:t>
            </a:r>
            <a:r>
              <a:rPr lang="en-US" sz="1200">
                <a:solidFill>
                  <a:srgbClr val="EDEFF5">
                    <a:alpha val="75000"/>
                  </a:srgbClr>
                </a:solidFill>
                <a:latin typeface="PingFang SC"/>
                <a:ea typeface="PingFang SC"/>
              </a:rPr>
              <a:t> iLink </a:t>
            </a:r>
            <a:r>
              <a:rPr lang="zh-CN" sz="1200">
                <a:solidFill>
                  <a:srgbClr val="EDEFF5">
                    <a:alpha val="75000"/>
                  </a:srgbClr>
                </a:solidFill>
                <a:latin typeface="PingFang SC"/>
                <a:ea typeface="PingFang SC"/>
              </a:rPr>
              <a:t>接入后，网页与微信共享同一份记忆与好感度；换设备时「会话合并」把旧记录无损迁到登录账号，关系不断档。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734175" y="3971925"/>
            <a:ext cx="266700" cy="2667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134225" y="4010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DEFF5">
                    <a:alpha val="80000"/>
                  </a:srgbClr>
                </a:solidFill>
                <a:latin typeface="PingFang SC"/>
                <a:ea typeface="PingFang SC"/>
              </a:rPr>
              <a:t>一个路瑶，处处相随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91875" y="61150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71" name="" descr="&lt;Slide style={{ width:'1280px', height:'720px', background:'#0B0D12', position:'relative', fontFamily:&quot;'PingFang SC','Inter',sans-serif&quot;, overflow:'hidden' }}&gt;&#10;  &lt;Box style={{ position:'absolute', top:-120, right:-100, width:520, height:520, borderRadius:260, background:'linear-gradient(135deg,#FF6F5E 0%,#FFAE6B 100%)', opacity:0.12 }} /&gt;&#10;  &lt;Box style={{ position:'relative', zIndex:2, height:'100%', padding:'0 110px', justifyContent:'center' }}&gt;&#10;    &lt;Text style={{ fontSize:200, fontWeight:'bold', color:'rgba(255,255,255,0.06)', lineHeight:1 }}&gt;04&lt;/Text&gt;&#10;    &lt;Box style={{ marginTop:-30 }}&gt;&#10;      &lt;Text style={{ fontSize:18, color:'rgba(237,239,245,0.55)', letterSpacing:4 }}&gt;CHAPTER 04&lt;/Text&gt;&#10;      &lt;Text style={{ fontSize:64, fontWeight:'bold', color:'#EDEFF5', marginTop:10 }}&gt;工程亮点&lt;/Text&gt;&#10;      &lt;Box style={{ width:90, height:5, borderRadius:3, background:'linear-gradient(135deg,#FF6F5E 0%,#FFAE6B 100%)', marginTop:20 }} /&gt;&#10;      &lt;Text style={{ fontSize:20, color:'rgba(237,239,245,0.7)', marginTop:24 }}&gt;隔离 · 安全 · 管理后台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191500" y="-11430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FF6F5E">
                  <a:alpha val="12000"/>
                </a:srgbClr>
              </a:gs>
              <a:gs pos="100000">
                <a:srgbClr val="FFAE6B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47750" y="1562100"/>
            <a:ext cx="100965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FFFFFF">
                    <a:alpha val="6000"/>
                  </a:srgbClr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47750" y="3562350"/>
            <a:ext cx="1009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CHAPTER 04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47750" y="3867150"/>
            <a:ext cx="10096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EDEFF5"/>
                </a:solidFill>
                <a:latin typeface="PingFang SC"/>
                <a:ea typeface="PingFang SC"/>
              </a:rPr>
              <a:t>工程亮点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1047750" y="47910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047750" y="5067300"/>
            <a:ext cx="1009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隔离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安全</a:t>
            </a:r>
            <a:r>
              <a:rPr lang="en-US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EDEFF5">
                    <a:alpha val="70000"/>
                  </a:srgbClr>
                </a:solidFill>
                <a:latin typeface="PingFang SC"/>
                <a:ea typeface="PingFang SC"/>
              </a:rPr>
              <a:t>管理后台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9" name="" descr="&lt;Slide style={{ width:'1280px', height:'720px', background:'#0B0D12', padding:'20px 60px', fontFamily:&quot;'PingFang SC','Inter',sans-serif&quot;, position:'relative' }}&gt;&#10;  &lt;Box style={{ height:100, justifyContent:'center' }}&gt;&#10;    &lt;Text style={{ fontSize:34, fontWeight:'bold', color:'#EDEFF5' }}&gt;工程实践 · 安全 · 管理后台&lt;/Text&gt;&#10;  &lt;/Box&gt;&#10;  &lt;Box style={{ height:500, flexDirection:'row', gap:36 }}&gt;&#10;    &lt;Box style={{ width:290, justifyContent:'center' }}&gt;&#10;      &lt;Text style={{ fontSize:18, color:'rgba(237,239,245,0.55)', letterSpacing:3 }}&gt;ENGINEERING&lt;/Text&gt;&#10;      &lt;Box style={{ width:64, height:4, borderRadius:2, background:'linear-gradient(135deg,#FF6F5E 0%,#FFAE6B 100%)', marginTop:16 }} /&gt;&#10;      &lt;Text style={{ fontSize:16, color:'rgba(237,239,245,0.5)', marginTop:20, lineHeight:1.7 }}&gt;在「快速迭代」与「稳健可运维」之间做了平衡。&lt;/Text&gt;&#10;    &lt;/Box&gt;&#10;    &lt;Box style={{ flex:1, flexDirection:'column', gap:13, justifyContent:'center' }}&gt;&#10;      &lt;Box style={{ flexDirection:'row', gap:16, alignItems:'center' }}&gt;&lt;FAIcon name='layer-group' style={{ fill:'#FF6F5E', width:30, height:30 }} /&gt;&lt;Box&gt;&lt;Text style={{ fontSize:19, fontWeight:'bold', color:'#EDEFF5' }}&gt;单 JVM 双端口&lt;/Text&gt;&lt;Text style={{ fontSize:14, color:'rgba(237,239,245,0.65)' }}&gt;主站 8083 + 后台 8084，端口隔离防越权&lt;/Text&gt;&lt;/Box&gt;&lt;/Box&gt;&#10;      &lt;Box style={{ flexDirection:'row', gap:16, alignItems:'center' }}&gt;&lt;FAIcon name='database' style={{ fill:'#FF6F5E', width:30, height:30 }} /&gt;&lt;Box&gt;&lt;Text style={{ fontSize:19, fontWeight:'bold', color:'#EDEFF5' }}&gt;账号数据物理隔离&lt;/Text&gt;&lt;Text style={{ fontSize:14, color:'rgba(237,239,245,0.65)' }}&gt;每账号独立表，互不串数据&lt;/Text&gt;&lt;/Box&gt;&lt;/Box&gt;&#10;      &lt;Box style={{ flexDirection:'row', gap:16, alignItems:'center' }}&gt;&lt;FAIcon name='lock' style={{ fill:'#FF6F5E', width:30, height:30 }} /&gt;&lt;Box&gt;&lt;Text style={{ fontSize:19, fontWeight:'bold', color:'#EDEFF5' }}&gt;安全基本功&lt;/Text&gt;&lt;Text style={{ fontSize:14, color:'rgba(237,239,245,0.65)' }}&gt;PBKDF2 密码哈希 + 全参数化 SQL 防注入&lt;/Text&gt;&lt;/Box&gt;&lt;/Box&gt;&#10;      &lt;Box style={{ flexDirection:'row', gap:16, alignItems:'center' }}&gt;&lt;FAIcon name='cog' style={{ fill:'#FF6F5E', width:30, height:30 }} /&gt;&lt;Box&gt;&lt;Text style={{ fontSize:19, fontWeight:'bold', color:'#EDEFF5' }}&gt;在线动态配置&lt;/Text&gt;&lt;Text style={{ fontSize:14, color:'rgba(237,239,245,0.65)' }}&gt;白名单键，免重启改 prompt / 模型参数&lt;/Text&gt;&lt;/Box&gt;&lt;/Box&gt;&#10;      &lt;Box style={{ flexDirection:'row', gap:16, alignItems:'center' }}&gt;&lt;FAIcon name='chart-line' style={{ fill:'#FF6F5E', width:30, height:30 }} /&gt;&lt;Box&gt;&lt;Text style={{ fontSize:19, fontWeight:'bold', color:'#EDEFF5' }}&gt;可视化管理后台&lt;/Text&gt;&lt;Text style={{ fontSize:14, color:'rgba(237,239,245,0.65)' }}&gt;用户 / 日志 / Token / 延迟 / WS 在线监控&lt;/Text&gt;&lt;/Box&gt;&lt;/Box&gt;&#10;    &lt;/Box&gt;&#10;  &lt;/Box&gt;&#10;  &lt;Box style={{ height:60, flexDirection:'row', justifyContent:'space-between', alignItems:'center' }}&gt;&#10;    &lt;Text style={{ fontSize:14, color:'rgba(237,239,245,0.5)' }}&gt;路瑶AI · 项目介绍&lt;/Text&gt;&#10;    &lt;Text style={{ fontSize:14, color:'rgba(237,239,245,0.5)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工程实践</a:t>
            </a:r>
            <a:r>
              <a:rPr lang="en-US" sz="255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安全</a:t>
            </a:r>
            <a:r>
              <a:rPr lang="en-US" sz="2550" b="1">
                <a:solidFill>
                  <a:srgbClr val="EDEFF5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EDEFF5"/>
                </a:solidFill>
                <a:latin typeface="PingFang SC"/>
                <a:ea typeface="PingFang SC"/>
              </a:rPr>
              <a:t>管理后台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71500" y="2914650"/>
            <a:ext cx="276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EDEFF5">
                    <a:alpha val="55000"/>
                  </a:srgbClr>
                </a:solidFill>
                <a:latin typeface="PingFang SC"/>
                <a:ea typeface="PingFang SC"/>
              </a:rPr>
              <a:t>ENGINEERING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1500" y="3276600"/>
            <a:ext cx="6096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F5E"/>
              </a:gs>
              <a:gs pos="100000">
                <a:srgbClr val="FFAE6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3505200"/>
            <a:ext cx="2762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在「快速迭代」与「稳健可运维」之间做了平衡。</a:t>
            </a:r>
            <a:endParaRPr/>
          </a:p>
        </p:txBody>
      </p:sp>
      <p:pic>
        <p:nvPicPr>
          <p:cNvPr id="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676650" y="2371725"/>
            <a:ext cx="285750" cy="285750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114800" y="2324100"/>
            <a:ext cx="2505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单</a:t>
            </a:r>
            <a:r>
              <a:rPr lang="en-US" sz="1425" b="1">
                <a:solidFill>
                  <a:srgbClr val="EDEFF5"/>
                </a:solidFill>
                <a:latin typeface="PingFang SC"/>
                <a:ea typeface="PingFang SC"/>
              </a:rPr>
              <a:t> JVM </a:t>
            </a: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双端口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114800" y="2543175"/>
            <a:ext cx="250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主站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8083 +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后台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8084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，端口隔离防越权</a:t>
            </a:r>
            <a:endParaRPr/>
          </a:p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76650" y="2876550"/>
            <a:ext cx="285750" cy="285750"/>
          </a:xfrm>
          <a:prstGeom prst="rect">
            <a:avLst/>
          </a:prstGeom>
          <a:ln/>
        </p:spPr>
      </p:pic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114800" y="2828925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账号数据物理隔离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114800" y="30480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每账号独立表，互不串数据</a:t>
            </a:r>
            <a:endParaRPr/>
          </a:p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676650" y="3381375"/>
            <a:ext cx="285750" cy="28575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114800" y="3333750"/>
            <a:ext cx="2562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安全基本功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114800" y="3552825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PBKDF2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密码哈希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全参数化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SQL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防注入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676650" y="3886200"/>
            <a:ext cx="285750" cy="28575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114800" y="3838575"/>
            <a:ext cx="2381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在线动态配置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114800" y="4057650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白名单键，免重启改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prompt /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模型参数</a:t>
            </a:r>
            <a:endParaRPr/>
          </a:p>
        </p:txBody>
      </p:sp>
      <p:pic>
        <p:nvPicPr>
          <p:cNvPr id="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676650" y="4391025"/>
            <a:ext cx="285750" cy="285750"/>
          </a:xfrm>
          <a:prstGeom prst="rect">
            <a:avLst/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114800" y="4343400"/>
            <a:ext cx="259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DEFF5"/>
                </a:solidFill>
                <a:latin typeface="PingFang SC"/>
                <a:ea typeface="PingFang SC"/>
              </a:rPr>
              <a:t>可视化管理后台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14800" y="4562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用户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日志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Token /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延迟</a:t>
            </a:r>
            <a:r>
              <a:rPr lang="en-US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 / WS </a:t>
            </a:r>
            <a:r>
              <a:rPr lang="zh-CN" sz="1050">
                <a:solidFill>
                  <a:srgbClr val="EDEFF5">
                    <a:alpha val="65000"/>
                  </a:srgbClr>
                </a:solidFill>
                <a:latin typeface="PingFang SC"/>
                <a:ea typeface="PingFang SC"/>
              </a:rPr>
              <a:t>在线监控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71500" y="6115050"/>
            <a:ext cx="107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91875" y="61150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02" name="" descr="&lt;Slide style={{ width:'1280px', height:'720px', background:'#0B0D12', position:'relative', fontFamily:&quot;'PingFang SC','Inter',sans-serif&quot;, overflow:'hidden' }}&gt;&#10;  &lt;Box style={{ position:'absolute', top:-140, right:-110, width:540, height:540, borderRadius:270, background:'linear-gradient(135deg,#FF6F5E 0%,#FFAE6B 100%)', opacity:0.16 }} /&gt;&#10;  &lt;Box style={{ position:'absolute', bottom:-170, left:-90, width:480, height:480, borderRadius:240, background:'linear-gradient(135deg,#FFAE6B 0%,#FF6F5E 100%)', opacity:0.10 }} /&gt;&#10;  &lt;Box style={{ position:'relative', zIndex:2, height:'100%', padding:'0 96px', justifyContent:'center' }}&gt;&#10;    &lt;Text style={{ fontSize:20, color:'rgba(237,239,245,0.6)', letterSpacing:3 }}&gt;SUMMARY&lt;/Text&gt;&#10;    &lt;Text style={{ fontSize:56, fontWeight:'bold', color:'#EDEFF5', marginTop:18, lineHeight:1.45 }}&gt;有记忆、有温度、&lt;br /&gt;&lt;span style={{ backgroundImage:'linear-gradient(135deg,#FF6F5E 0%,#FFAE6B 100%)', backgroundClip:'text', color:'transparent' }}&gt;多端相随&lt;/span&gt;的 AI 伴侣&lt;/Text&gt;&#10;    &lt;Text style={{ fontSize:20, color:'rgba(237,239,245,0.72)', marginTop:30, lineHeight:1.7, maxWidth:880 }}&gt;路瑶AI 用扎实的工程底座，把通用聊天升级为可持续生长的情感关系。下一步：扩展多角色人设、强化隐私保护与端到端加密。&lt;/Text&gt;&#10;  &lt;/Box&gt;&#10;  &lt;Box style={{ position:'absolute', bottom:38, left:96, zIndex:2 }}&gt;&#10;    &lt;Text style={{ fontSize:14, color:'rgba(237,239,245,0.5)' }}&gt;路瑶AI · 项目介绍　|　2026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096250" y="-1333500"/>
            <a:ext cx="5143500" cy="5143500"/>
          </a:xfrm>
          <a:custGeom>
            <a:pathLst>
              <a:path w="540" h="540">
                <a:moveTo>
                  <a:pt x="430" y="487"/>
                </a:moveTo>
                <a:lnTo>
                  <a:pt x="426" y="490"/>
                </a:lnTo>
                <a:lnTo>
                  <a:pt x="421" y="494"/>
                </a:lnTo>
                <a:lnTo>
                  <a:pt x="415" y="497"/>
                </a:lnTo>
                <a:lnTo>
                  <a:pt x="410" y="501"/>
                </a:lnTo>
                <a:lnTo>
                  <a:pt x="404" y="504"/>
                </a:lnTo>
                <a:lnTo>
                  <a:pt x="399" y="507"/>
                </a:lnTo>
                <a:lnTo>
                  <a:pt x="393" y="510"/>
                </a:lnTo>
                <a:lnTo>
                  <a:pt x="387" y="513"/>
                </a:lnTo>
                <a:lnTo>
                  <a:pt x="381" y="516"/>
                </a:lnTo>
                <a:lnTo>
                  <a:pt x="375" y="519"/>
                </a:lnTo>
                <a:lnTo>
                  <a:pt x="369" y="521"/>
                </a:lnTo>
                <a:lnTo>
                  <a:pt x="363" y="524"/>
                </a:lnTo>
                <a:lnTo>
                  <a:pt x="357" y="526"/>
                </a:lnTo>
                <a:lnTo>
                  <a:pt x="350" y="528"/>
                </a:lnTo>
                <a:lnTo>
                  <a:pt x="344" y="530"/>
                </a:lnTo>
                <a:lnTo>
                  <a:pt x="337" y="531"/>
                </a:lnTo>
                <a:lnTo>
                  <a:pt x="331" y="533"/>
                </a:lnTo>
                <a:lnTo>
                  <a:pt x="324" y="535"/>
                </a:lnTo>
                <a:lnTo>
                  <a:pt x="318" y="536"/>
                </a:lnTo>
                <a:lnTo>
                  <a:pt x="311" y="537"/>
                </a:lnTo>
                <a:lnTo>
                  <a:pt x="304" y="538"/>
                </a:lnTo>
                <a:lnTo>
                  <a:pt x="298" y="539"/>
                </a:lnTo>
                <a:lnTo>
                  <a:pt x="291" y="539"/>
                </a:lnTo>
                <a:lnTo>
                  <a:pt x="284" y="540"/>
                </a:lnTo>
                <a:lnTo>
                  <a:pt x="277" y="540"/>
                </a:lnTo>
                <a:lnTo>
                  <a:pt x="270" y="540"/>
                </a:lnTo>
                <a:lnTo>
                  <a:pt x="263" y="540"/>
                </a:lnTo>
                <a:lnTo>
                  <a:pt x="256" y="540"/>
                </a:lnTo>
                <a:lnTo>
                  <a:pt x="249" y="539"/>
                </a:lnTo>
                <a:lnTo>
                  <a:pt x="242" y="539"/>
                </a:lnTo>
                <a:lnTo>
                  <a:pt x="236" y="538"/>
                </a:lnTo>
                <a:lnTo>
                  <a:pt x="229" y="537"/>
                </a:lnTo>
                <a:lnTo>
                  <a:pt x="222" y="536"/>
                </a:lnTo>
                <a:lnTo>
                  <a:pt x="216" y="535"/>
                </a:lnTo>
                <a:lnTo>
                  <a:pt x="209" y="533"/>
                </a:lnTo>
                <a:lnTo>
                  <a:pt x="203" y="531"/>
                </a:lnTo>
                <a:lnTo>
                  <a:pt x="196" y="530"/>
                </a:lnTo>
                <a:lnTo>
                  <a:pt x="190" y="528"/>
                </a:lnTo>
                <a:lnTo>
                  <a:pt x="183" y="526"/>
                </a:lnTo>
                <a:lnTo>
                  <a:pt x="177" y="524"/>
                </a:lnTo>
                <a:lnTo>
                  <a:pt x="171" y="521"/>
                </a:lnTo>
                <a:lnTo>
                  <a:pt x="165" y="519"/>
                </a:lnTo>
                <a:lnTo>
                  <a:pt x="159" y="516"/>
                </a:lnTo>
                <a:lnTo>
                  <a:pt x="153" y="513"/>
                </a:lnTo>
                <a:lnTo>
                  <a:pt x="147" y="510"/>
                </a:lnTo>
                <a:lnTo>
                  <a:pt x="141" y="507"/>
                </a:lnTo>
                <a:lnTo>
                  <a:pt x="136" y="504"/>
                </a:lnTo>
                <a:lnTo>
                  <a:pt x="130" y="501"/>
                </a:lnTo>
                <a:lnTo>
                  <a:pt x="125" y="497"/>
                </a:lnTo>
                <a:lnTo>
                  <a:pt x="119" y="494"/>
                </a:lnTo>
                <a:lnTo>
                  <a:pt x="114" y="490"/>
                </a:lnTo>
                <a:lnTo>
                  <a:pt x="108" y="486"/>
                </a:lnTo>
                <a:lnTo>
                  <a:pt x="103" y="482"/>
                </a:lnTo>
                <a:lnTo>
                  <a:pt x="98" y="478"/>
                </a:lnTo>
                <a:lnTo>
                  <a:pt x="93" y="474"/>
                </a:lnTo>
                <a:lnTo>
                  <a:pt x="88" y="470"/>
                </a:lnTo>
                <a:lnTo>
                  <a:pt x="84" y="465"/>
                </a:lnTo>
                <a:lnTo>
                  <a:pt x="79" y="461"/>
                </a:lnTo>
                <a:lnTo>
                  <a:pt x="75" y="456"/>
                </a:lnTo>
                <a:lnTo>
                  <a:pt x="70" y="452"/>
                </a:lnTo>
                <a:lnTo>
                  <a:pt x="66" y="447"/>
                </a:lnTo>
                <a:lnTo>
                  <a:pt x="62" y="442"/>
                </a:lnTo>
                <a:lnTo>
                  <a:pt x="58" y="437"/>
                </a:lnTo>
                <a:lnTo>
                  <a:pt x="54" y="432"/>
                </a:lnTo>
                <a:lnTo>
                  <a:pt x="50" y="426"/>
                </a:lnTo>
                <a:lnTo>
                  <a:pt x="46" y="421"/>
                </a:lnTo>
                <a:lnTo>
                  <a:pt x="43" y="415"/>
                </a:lnTo>
                <a:lnTo>
                  <a:pt x="39" y="410"/>
                </a:lnTo>
                <a:lnTo>
                  <a:pt x="36" y="404"/>
                </a:lnTo>
                <a:lnTo>
                  <a:pt x="33" y="399"/>
                </a:lnTo>
                <a:lnTo>
                  <a:pt x="30" y="393"/>
                </a:lnTo>
                <a:lnTo>
                  <a:pt x="27" y="387"/>
                </a:lnTo>
                <a:lnTo>
                  <a:pt x="24" y="381"/>
                </a:lnTo>
                <a:lnTo>
                  <a:pt x="21" y="375"/>
                </a:lnTo>
                <a:lnTo>
                  <a:pt x="19" y="369"/>
                </a:lnTo>
                <a:lnTo>
                  <a:pt x="16" y="363"/>
                </a:lnTo>
                <a:lnTo>
                  <a:pt x="14" y="357"/>
                </a:lnTo>
                <a:lnTo>
                  <a:pt x="12" y="350"/>
                </a:lnTo>
                <a:lnTo>
                  <a:pt x="10" y="344"/>
                </a:lnTo>
                <a:lnTo>
                  <a:pt x="9" y="337"/>
                </a:lnTo>
                <a:lnTo>
                  <a:pt x="7" y="331"/>
                </a:lnTo>
                <a:lnTo>
                  <a:pt x="5" y="324"/>
                </a:lnTo>
                <a:lnTo>
                  <a:pt x="4" y="318"/>
                </a:lnTo>
                <a:lnTo>
                  <a:pt x="3" y="311"/>
                </a:lnTo>
                <a:lnTo>
                  <a:pt x="2" y="304"/>
                </a:lnTo>
                <a:lnTo>
                  <a:pt x="1" y="298"/>
                </a:lnTo>
                <a:lnTo>
                  <a:pt x="1" y="291"/>
                </a:lnTo>
                <a:lnTo>
                  <a:pt x="0" y="284"/>
                </a:lnTo>
                <a:lnTo>
                  <a:pt x="0" y="277"/>
                </a:lnTo>
                <a:lnTo>
                  <a:pt x="0" y="270"/>
                </a:lnTo>
                <a:lnTo>
                  <a:pt x="0" y="263"/>
                </a:lnTo>
                <a:lnTo>
                  <a:pt x="0" y="256"/>
                </a:lnTo>
                <a:lnTo>
                  <a:pt x="1" y="249"/>
                </a:lnTo>
                <a:lnTo>
                  <a:pt x="1" y="242"/>
                </a:lnTo>
                <a:lnTo>
                  <a:pt x="2" y="236"/>
                </a:lnTo>
                <a:lnTo>
                  <a:pt x="3" y="229"/>
                </a:lnTo>
                <a:lnTo>
                  <a:pt x="4" y="222"/>
                </a:lnTo>
                <a:lnTo>
                  <a:pt x="5" y="216"/>
                </a:lnTo>
                <a:lnTo>
                  <a:pt x="7" y="209"/>
                </a:lnTo>
                <a:lnTo>
                  <a:pt x="9" y="203"/>
                </a:lnTo>
                <a:lnTo>
                  <a:pt x="10" y="196"/>
                </a:lnTo>
                <a:lnTo>
                  <a:pt x="12" y="190"/>
                </a:lnTo>
                <a:lnTo>
                  <a:pt x="14" y="183"/>
                </a:lnTo>
                <a:lnTo>
                  <a:pt x="16" y="177"/>
                </a:lnTo>
                <a:lnTo>
                  <a:pt x="19" y="171"/>
                </a:lnTo>
                <a:lnTo>
                  <a:pt x="21" y="165"/>
                </a:lnTo>
                <a:lnTo>
                  <a:pt x="24" y="159"/>
                </a:lnTo>
                <a:lnTo>
                  <a:pt x="27" y="153"/>
                </a:lnTo>
                <a:lnTo>
                  <a:pt x="30" y="147"/>
                </a:lnTo>
                <a:lnTo>
                  <a:pt x="33" y="141"/>
                </a:lnTo>
                <a:lnTo>
                  <a:pt x="33" y="140"/>
                </a:lnTo>
                <a:lnTo>
                  <a:pt x="430" y="140"/>
                </a:lnTo>
                <a:close/>
              </a:path>
            </a:pathLst>
          </a:custGeom>
          <a:gradFill>
            <a:gsLst>
              <a:gs pos="0">
                <a:srgbClr val="FF6F5E">
                  <a:alpha val="16000"/>
                </a:srgbClr>
              </a:gs>
              <a:gs pos="100000">
                <a:srgbClr val="FFAE6B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-857250" y="390525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4" y="294"/>
                </a:lnTo>
                <a:lnTo>
                  <a:pt x="472" y="300"/>
                </a:lnTo>
                <a:lnTo>
                  <a:pt x="471" y="306"/>
                </a:lnTo>
                <a:lnTo>
                  <a:pt x="470" y="310"/>
                </a:lnTo>
                <a:lnTo>
                  <a:pt x="90" y="310"/>
                </a:lnTo>
                <a:lnTo>
                  <a:pt x="90" y="53"/>
                </a:lnTo>
                <a:lnTo>
                  <a:pt x="92" y="51"/>
                </a:lnTo>
                <a:lnTo>
                  <a:pt x="96" y="48"/>
                </a:lnTo>
                <a:lnTo>
                  <a:pt x="101" y="44"/>
                </a:lnTo>
                <a:lnTo>
                  <a:pt x="106" y="41"/>
                </a:lnTo>
                <a:lnTo>
                  <a:pt x="111" y="38"/>
                </a:lnTo>
                <a:lnTo>
                  <a:pt x="116" y="35"/>
                </a:lnTo>
                <a:lnTo>
                  <a:pt x="121" y="32"/>
                </a:lnTo>
                <a:lnTo>
                  <a:pt x="126" y="29"/>
                </a:lnTo>
                <a:lnTo>
                  <a:pt x="131" y="26"/>
                </a:lnTo>
                <a:lnTo>
                  <a:pt x="136" y="24"/>
                </a:lnTo>
                <a:lnTo>
                  <a:pt x="141" y="21"/>
                </a:lnTo>
                <a:lnTo>
                  <a:pt x="147" y="19"/>
                </a:lnTo>
                <a:lnTo>
                  <a:pt x="152" y="17"/>
                </a:lnTo>
                <a:lnTo>
                  <a:pt x="158" y="15"/>
                </a:lnTo>
                <a:lnTo>
                  <a:pt x="163" y="13"/>
                </a:lnTo>
                <a:lnTo>
                  <a:pt x="169" y="11"/>
                </a:lnTo>
                <a:lnTo>
                  <a:pt x="174" y="9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gradFill>
            <a:gsLst>
              <a:gs pos="0">
                <a:srgbClr val="FFAE6B">
                  <a:alpha val="10000"/>
                </a:srgbClr>
              </a:gs>
              <a:gs pos="100000">
                <a:srgbClr val="FF6F5E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14400" y="1771650"/>
            <a:ext cx="1036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EDEFF5">
                    <a:alpha val="60000"/>
                  </a:srgbClr>
                </a:solidFill>
                <a:latin typeface="PingFang SC"/>
                <a:ea typeface="PingFang SC"/>
              </a:rPr>
              <a:t>SUMMARY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14400" y="2171700"/>
            <a:ext cx="10363200" cy="1857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4200" b="1">
                <a:solidFill>
                  <a:srgbClr val="EDEFF5"/>
                </a:solidFill>
                <a:latin typeface="PingFang SC"/>
                <a:ea typeface="PingFang SC"/>
              </a:rPr>
              <a:t>有记忆、有温度、</a:t>
            </a:r>
            <a:endParaRPr/>
          </a:p>
          <a:p>
            <a:pPr>
              <a:lnSpc>
                <a:spcPct val="145000"/>
              </a:lnSpc>
            </a:pPr>
            <a:r>
              <a:rPr lang="zh-CN" sz="4200" b="1">
                <a:gradFill>
                  <a:gsLst>
                    <a:gs pos="0">
                      <a:srgbClr val="FF6F5E"/>
                    </a:gs>
                    <a:gs pos="100000">
                      <a:srgbClr val="FFAE6B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多端相随</a:t>
            </a:r>
            <a:r>
              <a:rPr lang="zh-CN" sz="4200" b="1">
                <a:solidFill>
                  <a:srgbClr val="EDEFF5"/>
                </a:solidFill>
                <a:latin typeface="PingFang SC"/>
                <a:ea typeface="PingFang SC"/>
              </a:rPr>
              <a:t>的</a:t>
            </a:r>
            <a:r>
              <a:rPr lang="en-US" sz="4200" b="1">
                <a:solidFill>
                  <a:srgbClr val="EDEFF5"/>
                </a:solidFill>
                <a:latin typeface="PingFang SC"/>
                <a:ea typeface="PingFang SC"/>
              </a:rPr>
              <a:t> AI </a:t>
            </a:r>
            <a:r>
              <a:rPr lang="zh-CN" sz="4200" b="1">
                <a:solidFill>
                  <a:srgbClr val="EDEFF5"/>
                </a:solidFill>
                <a:latin typeface="PingFang SC"/>
                <a:ea typeface="PingFang SC"/>
              </a:rPr>
              <a:t>伴侣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14400" y="4314825"/>
            <a:ext cx="103632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AI </a:t>
            </a:r>
            <a:r>
              <a:rPr lang="zh-CN" sz="1500">
                <a:solidFill>
                  <a:srgbClr val="EDEFF5">
                    <a:alpha val="72000"/>
                  </a:srgbClr>
                </a:solidFill>
                <a:latin typeface="PingFang SC"/>
                <a:ea typeface="PingFang SC"/>
              </a:rPr>
              <a:t>用扎实的工程底座，把通用聊天升级为可持续生长的情感关系。下一步：扩展多角色人设、强化隐私保护与端到端加密。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14400" y="633412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路瑶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AI · 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项目介绍　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|</a:t>
            </a:r>
            <a:r>
              <a:rPr lang="zh-CN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　</a:t>
            </a:r>
            <a:r>
              <a:rPr lang="en-US" sz="1050">
                <a:solidFill>
                  <a:srgbClr val="EDEFF5">
                    <a:alpha val="50000"/>
                  </a:srgbClr>
                </a:solidFill>
                <a:latin typeface="PingFang SC"/>
                <a:ea typeface="PingFang SC"/>
              </a:rPr>
              <a:t>2026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2026-09-21T18:15:57Z</dcterms:created>
  <dcterms:modified xsi:type="dcterms:W3CDTF">2026-09-21T18:15:57Z</dcterms:modified>
</cp:coreProperties>
</file>